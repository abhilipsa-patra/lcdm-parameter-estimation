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6" r:id="rId2"/>
  </p:sldIdLst>
  <p:sldSz cx="914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60"/>
  </p:normalViewPr>
  <p:slideViewPr>
    <p:cSldViewPr snapToGrid="0">
      <p:cViewPr>
        <p:scale>
          <a:sx n="66" d="100"/>
          <a:sy n="66" d="100"/>
        </p:scale>
        <p:origin x="1468" y="-17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8E7667-6799-4FB1-ACAC-1AFF3AC88FBC}" type="datetimeFigureOut">
              <a:rPr lang="en-IN" smtClean="0"/>
              <a:t>16-07-2025</a:t>
            </a:fld>
            <a:endParaRPr lang="en-IN"/>
          </a:p>
        </p:txBody>
      </p:sp>
      <p:sp>
        <p:nvSpPr>
          <p:cNvPr id="4" name="Slide Image Placeholder 3"/>
          <p:cNvSpPr>
            <a:spLocks noGrp="1" noRot="1" noChangeAspect="1"/>
          </p:cNvSpPr>
          <p:nvPr>
            <p:ph type="sldImg" idx="2"/>
          </p:nvPr>
        </p:nvSpPr>
        <p:spPr>
          <a:xfrm>
            <a:off x="2400300" y="1143000"/>
            <a:ext cx="2057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B63A3B-3F1C-4362-9372-D1463CCB483C}" type="slidenum">
              <a:rPr lang="en-IN" smtClean="0"/>
              <a:t>‹#›</a:t>
            </a:fld>
            <a:endParaRPr lang="en-IN"/>
          </a:p>
        </p:txBody>
      </p:sp>
    </p:spTree>
    <p:extLst>
      <p:ext uri="{BB962C8B-B14F-4D97-AF65-F5344CB8AC3E}">
        <p14:creationId xmlns:p14="http://schemas.microsoft.com/office/powerpoint/2010/main" val="3671076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B63A3B-3F1C-4362-9372-D1463CCB483C}" type="slidenum">
              <a:rPr lang="en-IN" smtClean="0"/>
              <a:t>1</a:t>
            </a:fld>
            <a:endParaRPr lang="en-IN"/>
          </a:p>
        </p:txBody>
      </p:sp>
    </p:spTree>
    <p:extLst>
      <p:ext uri="{BB962C8B-B14F-4D97-AF65-F5344CB8AC3E}">
        <p14:creationId xmlns:p14="http://schemas.microsoft.com/office/powerpoint/2010/main" val="3586631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44726"/>
            <a:ext cx="7772400" cy="47752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7204076"/>
            <a:ext cx="6858000" cy="331152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F625B9-1224-43C8-96B2-06D87069F202}"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2496450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F625B9-1224-43C8-96B2-06D87069F202}"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1986092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3419479"/>
            <a:ext cx="7886700" cy="5705474"/>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9178929"/>
            <a:ext cx="7886700" cy="3000374"/>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F625B9-1224-43C8-96B2-06D87069F202}"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3533846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3651250"/>
            <a:ext cx="3886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3651250"/>
            <a:ext cx="3886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F625B9-1224-43C8-96B2-06D87069F202}"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3980107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730253"/>
            <a:ext cx="7886700"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3362326"/>
            <a:ext cx="3868340" cy="1647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5010150"/>
            <a:ext cx="3868340"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3362326"/>
            <a:ext cx="3887391" cy="1647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5010150"/>
            <a:ext cx="3887391"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F625B9-1224-43C8-96B2-06D87069F202}" type="datetimeFigureOut">
              <a:rPr lang="en-US" smtClean="0"/>
              <a:t>7/16/2025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2477777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F625B9-1224-43C8-96B2-06D87069F202}" type="datetimeFigureOut">
              <a:rPr lang="en-US" smtClean="0"/>
              <a:t>7/16/2025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114873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F625B9-1224-43C8-96B2-06D87069F202}" type="datetimeFigureOut">
              <a:rPr lang="en-US" smtClean="0"/>
              <a:t>7/16/2025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3544442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914400"/>
            <a:ext cx="2949178" cy="32004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1974853"/>
            <a:ext cx="4629150" cy="9747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4114800"/>
            <a:ext cx="2949178" cy="7623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F625B9-1224-43C8-96B2-06D87069F202}"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1143692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914400"/>
            <a:ext cx="2949178" cy="32004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1974853"/>
            <a:ext cx="4629150" cy="9747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4114800"/>
            <a:ext cx="2949178" cy="7623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F625B9-1224-43C8-96B2-06D87069F202}"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2368082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F625B9-1224-43C8-96B2-06D87069F202}"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1875715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30250"/>
            <a:ext cx="1971675"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730250"/>
            <a:ext cx="5800725"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F625B9-1224-43C8-96B2-06D87069F202}"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B457C-E1ED-476F-8A3B-87C910F0F900}" type="slidenum">
              <a:rPr lang="en-US" smtClean="0"/>
              <a:t>‹#›</a:t>
            </a:fld>
            <a:endParaRPr lang="en-US"/>
          </a:p>
        </p:txBody>
      </p:sp>
    </p:spTree>
    <p:extLst>
      <p:ext uri="{BB962C8B-B14F-4D97-AF65-F5344CB8AC3E}">
        <p14:creationId xmlns:p14="http://schemas.microsoft.com/office/powerpoint/2010/main" val="114116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730253"/>
            <a:ext cx="7886700"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3651250"/>
            <a:ext cx="7886700"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12712703"/>
            <a:ext cx="2057400" cy="730250"/>
          </a:xfrm>
          <a:prstGeom prst="rect">
            <a:avLst/>
          </a:prstGeom>
        </p:spPr>
        <p:txBody>
          <a:bodyPr vert="horz" lIns="91440" tIns="45720" rIns="91440" bIns="45720" rtlCol="0" anchor="ctr"/>
          <a:lstStyle>
            <a:lvl1pPr algn="l">
              <a:defRPr sz="1200">
                <a:solidFill>
                  <a:schemeClr val="tx1">
                    <a:tint val="75000"/>
                  </a:schemeClr>
                </a:solidFill>
              </a:defRPr>
            </a:lvl1pPr>
          </a:lstStyle>
          <a:p>
            <a:fld id="{35F625B9-1224-43C8-96B2-06D87069F202}" type="datetimeFigureOut">
              <a:rPr lang="en-US" smtClean="0"/>
              <a:t>7/16/2025</a:t>
            </a:fld>
            <a:endParaRPr lang="en-US"/>
          </a:p>
        </p:txBody>
      </p:sp>
      <p:sp>
        <p:nvSpPr>
          <p:cNvPr id="5" name="Footer Placeholder 4"/>
          <p:cNvSpPr>
            <a:spLocks noGrp="1"/>
          </p:cNvSpPr>
          <p:nvPr>
            <p:ph type="ftr" sz="quarter" idx="3"/>
          </p:nvPr>
        </p:nvSpPr>
        <p:spPr>
          <a:xfrm>
            <a:off x="3028950" y="12712703"/>
            <a:ext cx="3086100" cy="7302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12712703"/>
            <a:ext cx="2057400" cy="730250"/>
          </a:xfrm>
          <a:prstGeom prst="rect">
            <a:avLst/>
          </a:prstGeom>
        </p:spPr>
        <p:txBody>
          <a:bodyPr vert="horz" lIns="91440" tIns="45720" rIns="91440" bIns="45720" rtlCol="0" anchor="ctr"/>
          <a:lstStyle>
            <a:lvl1pPr algn="r">
              <a:defRPr sz="1200">
                <a:solidFill>
                  <a:schemeClr val="tx1">
                    <a:tint val="75000"/>
                  </a:schemeClr>
                </a:solidFill>
              </a:defRPr>
            </a:lvl1pPr>
          </a:lstStyle>
          <a:p>
            <a:fld id="{99FB457C-E1ED-476F-8A3B-87C910F0F900}" type="slidenum">
              <a:rPr lang="en-US" smtClean="0"/>
              <a:t>‹#›</a:t>
            </a:fld>
            <a:endParaRPr lang="en-US"/>
          </a:p>
        </p:txBody>
      </p:sp>
    </p:spTree>
    <p:extLst>
      <p:ext uri="{BB962C8B-B14F-4D97-AF65-F5344CB8AC3E}">
        <p14:creationId xmlns:p14="http://schemas.microsoft.com/office/powerpoint/2010/main" val="49207748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image" Target="../media/image1.jpg"/><Relationship Id="rId7" Type="http://schemas.openxmlformats.org/officeDocument/2006/relationships/image" Target="../media/image5.png"/><Relationship Id="rId12" Type="http://schemas.openxmlformats.org/officeDocument/2006/relationships/image" Target="../media/image8.png"/><Relationship Id="rId17" Type="http://schemas.openxmlformats.org/officeDocument/2006/relationships/image" Target="../media/image13.jpg"/><Relationship Id="rId2" Type="http://schemas.openxmlformats.org/officeDocument/2006/relationships/notesSlide" Target="../notesSlides/notesSlide1.xml"/><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hyperlink" Target="https://github.com/PantheonPlusSH0ES/DataRelease" TargetMode="External"/><Relationship Id="rId5" Type="http://schemas.openxmlformats.org/officeDocument/2006/relationships/image" Target="../media/image3.png"/><Relationship Id="rId15" Type="http://schemas.openxmlformats.org/officeDocument/2006/relationships/image" Target="../media/image11.png"/><Relationship Id="rId10" Type="http://schemas.openxmlformats.org/officeDocument/2006/relationships/hyperlink" Target="https://arxiv.org/abs/2506.12709"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C53C32A-117A-D516-2575-F54884EF1F56}"/>
              </a:ext>
            </a:extLst>
          </p:cNvPr>
          <p:cNvCxnSpPr/>
          <p:nvPr/>
        </p:nvCxnSpPr>
        <p:spPr>
          <a:xfrm>
            <a:off x="-27754" y="1605531"/>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156D133-571D-B37B-3CAA-ABB485EE14BD}"/>
              </a:ext>
            </a:extLst>
          </p:cNvPr>
          <p:cNvSpPr txBox="1"/>
          <p:nvPr/>
        </p:nvSpPr>
        <p:spPr>
          <a:xfrm>
            <a:off x="50856" y="1730728"/>
            <a:ext cx="9042288" cy="954107"/>
          </a:xfrm>
          <a:prstGeom prst="rect">
            <a:avLst/>
          </a:prstGeom>
          <a:solidFill>
            <a:schemeClr val="accent1">
              <a:lumMod val="20000"/>
              <a:lumOff val="80000"/>
            </a:schemeClr>
          </a:solidFill>
        </p:spPr>
        <p:txBody>
          <a:bodyPr wrap="square" rtlCol="0">
            <a:spAutoFit/>
          </a:bodyPr>
          <a:lstStyle/>
          <a:p>
            <a:pPr algn="ctr"/>
            <a:r>
              <a:rPr lang="en-US" sz="1400" b="1" u="sng" dirty="0">
                <a:solidFill>
                  <a:schemeClr val="accent2">
                    <a:lumMod val="75000"/>
                  </a:schemeClr>
                </a:solidFill>
                <a:latin typeface="Times New Roman" panose="02020603050405020304" pitchFamily="18" charset="0"/>
                <a:cs typeface="Times New Roman" panose="02020603050405020304" pitchFamily="18" charset="0"/>
              </a:rPr>
              <a:t>ABSTRACT</a:t>
            </a:r>
          </a:p>
          <a:p>
            <a:pPr algn="ctr"/>
            <a:endParaRPr lang="en-US" sz="1400" b="1" u="sng" dirty="0">
              <a:solidFill>
                <a:schemeClr val="accent2">
                  <a:lumMod val="75000"/>
                </a:schemeClr>
              </a:solidFill>
              <a:latin typeface="Times New Roman" panose="02020603050405020304" pitchFamily="18" charset="0"/>
              <a:cs typeface="Times New Roman" panose="02020603050405020304" pitchFamily="18" charset="0"/>
            </a:endParaRPr>
          </a:p>
          <a:p>
            <a:endParaRPr lang="en-US" sz="1400" b="1" u="sng" dirty="0">
              <a:solidFill>
                <a:schemeClr val="accent2">
                  <a:lumMod val="75000"/>
                </a:schemeClr>
              </a:solidFill>
              <a:latin typeface="Times New Roman" panose="02020603050405020304" pitchFamily="18" charset="0"/>
              <a:cs typeface="Times New Roman" panose="02020603050405020304" pitchFamily="18" charset="0"/>
            </a:endParaRPr>
          </a:p>
          <a:p>
            <a:endParaRPr lang="en-US" sz="1400"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C160AE79-C709-B0EE-E39F-86A92D94D679}"/>
              </a:ext>
            </a:extLst>
          </p:cNvPr>
          <p:cNvSpPr/>
          <p:nvPr/>
        </p:nvSpPr>
        <p:spPr>
          <a:xfrm>
            <a:off x="114647" y="2772017"/>
            <a:ext cx="3626115" cy="2398834"/>
          </a:xfrm>
          <a:prstGeom prst="roundRect">
            <a:avLst>
              <a:gd name="adj" fmla="val 8814"/>
            </a:avLst>
          </a:prstGeom>
          <a:solidFill>
            <a:schemeClr val="accent1">
              <a:lumMod val="40000"/>
              <a:lumOff val="60000"/>
            </a:schemeClr>
          </a:solidFill>
          <a:ln>
            <a:noFill/>
          </a:ln>
          <a:effectLst>
            <a:outerShdw blurRad="50800" dist="228600" dir="2700000" algn="tl" rotWithShape="0">
              <a:schemeClr val="accent1">
                <a:lumMod val="50000"/>
                <a:alpha val="6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43">
            <a:extLst>
              <a:ext uri="{FF2B5EF4-FFF2-40B4-BE49-F238E27FC236}">
                <a16:creationId xmlns:a16="http://schemas.microsoft.com/office/drawing/2014/main" id="{F99761B6-9F2A-1C37-385C-1B7E761C814F}"/>
              </a:ext>
            </a:extLst>
          </p:cNvPr>
          <p:cNvSpPr txBox="1"/>
          <p:nvPr/>
        </p:nvSpPr>
        <p:spPr>
          <a:xfrm>
            <a:off x="1694451" y="226183"/>
            <a:ext cx="7306115" cy="646331"/>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ln w="12700">
                  <a:solidFill>
                    <a:srgbClr val="002060"/>
                  </a:solidFill>
                  <a:prstDash val="solid"/>
                </a:ln>
                <a:effectLst>
                  <a:innerShdw blurRad="177800">
                    <a:schemeClr val="accent3">
                      <a:lumMod val="50000"/>
                    </a:schemeClr>
                  </a:innerShdw>
                </a:effectLst>
                <a:latin typeface="Arial Black" panose="020B0A04020102020204" pitchFamily="34" charset="0"/>
              </a:rPr>
              <a:t>MAPPING THE LATE-TIME UNIVERSE :</a:t>
            </a:r>
          </a:p>
          <a:p>
            <a:pPr algn="ctr"/>
            <a:r>
              <a:rPr lang="en-IN" b="1" dirty="0">
                <a:ln w="12700">
                  <a:solidFill>
                    <a:srgbClr val="002060"/>
                  </a:solidFill>
                  <a:prstDash val="solid"/>
                </a:ln>
                <a:effectLst>
                  <a:innerShdw blurRad="177800">
                    <a:schemeClr val="accent3">
                      <a:lumMod val="50000"/>
                    </a:schemeClr>
                  </a:innerShdw>
                </a:effectLst>
                <a:latin typeface="Arial Black" panose="020B0A04020102020204" pitchFamily="34" charset="0"/>
              </a:rPr>
              <a:t>ΛCDM CONSTRAINTS FROM COSMIC BEACONS</a:t>
            </a:r>
            <a:endParaRPr lang="en-IN" b="1" dirty="0">
              <a:ln w="12700">
                <a:solidFill>
                  <a:srgbClr val="002060"/>
                </a:solidFill>
                <a:prstDash val="solid"/>
              </a:ln>
              <a:effectLst>
                <a:innerShdw blurRad="177800">
                  <a:schemeClr val="accent3">
                    <a:lumMod val="50000"/>
                  </a:schemeClr>
                </a:innerShdw>
              </a:effectLst>
              <a:latin typeface="Arial Black" panose="020B0A04020102020204" pitchFamily="34" charset="0"/>
              <a:cs typeface="Times New Roman" panose="02020603050405020304" pitchFamily="18" charset="0"/>
            </a:endParaRPr>
          </a:p>
        </p:txBody>
      </p:sp>
      <p:sp>
        <p:nvSpPr>
          <p:cNvPr id="11" name="Arrow: Chevron 10">
            <a:extLst>
              <a:ext uri="{FF2B5EF4-FFF2-40B4-BE49-F238E27FC236}">
                <a16:creationId xmlns:a16="http://schemas.microsoft.com/office/drawing/2014/main" id="{A602B01D-8B0B-ECD9-7871-F673B1EF738E}"/>
              </a:ext>
            </a:extLst>
          </p:cNvPr>
          <p:cNvSpPr/>
          <p:nvPr/>
        </p:nvSpPr>
        <p:spPr>
          <a:xfrm>
            <a:off x="130704" y="5386860"/>
            <a:ext cx="428826" cy="415831"/>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Chevron 11">
            <a:extLst>
              <a:ext uri="{FF2B5EF4-FFF2-40B4-BE49-F238E27FC236}">
                <a16:creationId xmlns:a16="http://schemas.microsoft.com/office/drawing/2014/main" id="{E04376C4-E7B8-DC77-34BE-8F646571B20F}"/>
              </a:ext>
            </a:extLst>
          </p:cNvPr>
          <p:cNvSpPr/>
          <p:nvPr/>
        </p:nvSpPr>
        <p:spPr>
          <a:xfrm>
            <a:off x="405991" y="5389796"/>
            <a:ext cx="428826" cy="415831"/>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 name="Straight Connector 13">
            <a:extLst>
              <a:ext uri="{FF2B5EF4-FFF2-40B4-BE49-F238E27FC236}">
                <a16:creationId xmlns:a16="http://schemas.microsoft.com/office/drawing/2014/main" id="{92DA8326-0560-CC46-7AA8-98CACC96790E}"/>
              </a:ext>
            </a:extLst>
          </p:cNvPr>
          <p:cNvCxnSpPr>
            <a:cxnSpLocks/>
          </p:cNvCxnSpPr>
          <p:nvPr/>
        </p:nvCxnSpPr>
        <p:spPr>
          <a:xfrm>
            <a:off x="779726" y="5756136"/>
            <a:ext cx="1785795" cy="0"/>
          </a:xfrm>
          <a:prstGeom prst="line">
            <a:avLst/>
          </a:prstGeom>
          <a:ln w="158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5AC2BF9-228F-E4C3-AFF1-754957F5AD6D}"/>
              </a:ext>
            </a:extLst>
          </p:cNvPr>
          <p:cNvSpPr txBox="1"/>
          <p:nvPr/>
        </p:nvSpPr>
        <p:spPr>
          <a:xfrm>
            <a:off x="779726" y="5453223"/>
            <a:ext cx="1672253" cy="307777"/>
          </a:xfrm>
          <a:prstGeom prst="rect">
            <a:avLst/>
          </a:prstGeom>
          <a:noFill/>
        </p:spPr>
        <p:txBody>
          <a:bodyPr wrap="none" rtlCol="0">
            <a:spAutoFit/>
          </a:bodyPr>
          <a:lstStyle/>
          <a:p>
            <a:r>
              <a:rPr lang="en-US" sz="1400" b="1" dirty="0">
                <a:solidFill>
                  <a:schemeClr val="accent1">
                    <a:lumMod val="50000"/>
                  </a:schemeClr>
                </a:solidFill>
                <a:latin typeface="Times New Roman" panose="02020603050405020304" pitchFamily="18" charset="0"/>
                <a:cs typeface="Times New Roman" panose="02020603050405020304" pitchFamily="18" charset="0"/>
              </a:rPr>
              <a:t>METHODOLOGY</a:t>
            </a:r>
          </a:p>
        </p:txBody>
      </p:sp>
      <p:sp>
        <p:nvSpPr>
          <p:cNvPr id="19" name="TextBox 18">
            <a:extLst>
              <a:ext uri="{FF2B5EF4-FFF2-40B4-BE49-F238E27FC236}">
                <a16:creationId xmlns:a16="http://schemas.microsoft.com/office/drawing/2014/main" id="{2609EDB8-E258-1D2D-D03D-C9597A4D4ECD}"/>
              </a:ext>
            </a:extLst>
          </p:cNvPr>
          <p:cNvSpPr txBox="1"/>
          <p:nvPr/>
        </p:nvSpPr>
        <p:spPr>
          <a:xfrm>
            <a:off x="3904900" y="7773954"/>
            <a:ext cx="2108719" cy="307777"/>
          </a:xfrm>
          <a:prstGeom prst="rect">
            <a:avLst/>
          </a:prstGeom>
          <a:noFill/>
        </p:spPr>
        <p:txBody>
          <a:bodyPr wrap="none" rtlCol="0">
            <a:spAutoFit/>
          </a:bodyPr>
          <a:lstStyle/>
          <a:p>
            <a:r>
              <a:rPr lang="en-US" sz="1400" b="1" dirty="0">
                <a:solidFill>
                  <a:schemeClr val="accent1">
                    <a:lumMod val="50000"/>
                  </a:schemeClr>
                </a:solidFill>
                <a:latin typeface="Times New Roman" panose="02020603050405020304" pitchFamily="18" charset="0"/>
                <a:cs typeface="Times New Roman" panose="02020603050405020304" pitchFamily="18" charset="0"/>
              </a:rPr>
              <a:t>RESULTS &amp; ANALYSIS</a:t>
            </a:r>
          </a:p>
        </p:txBody>
      </p:sp>
      <p:sp>
        <p:nvSpPr>
          <p:cNvPr id="20" name="Rectangle: Rounded Corners 19">
            <a:extLst>
              <a:ext uri="{FF2B5EF4-FFF2-40B4-BE49-F238E27FC236}">
                <a16:creationId xmlns:a16="http://schemas.microsoft.com/office/drawing/2014/main" id="{ACB5C42C-14DB-91F1-843B-59A716D20116}"/>
              </a:ext>
            </a:extLst>
          </p:cNvPr>
          <p:cNvSpPr/>
          <p:nvPr/>
        </p:nvSpPr>
        <p:spPr>
          <a:xfrm>
            <a:off x="90733" y="12699529"/>
            <a:ext cx="5172096" cy="855683"/>
          </a:xfrm>
          <a:prstGeom prst="roundRect">
            <a:avLst>
              <a:gd name="adj" fmla="val 8814"/>
            </a:avLst>
          </a:prstGeom>
          <a:ln>
            <a:solidFill>
              <a:schemeClr val="accent3">
                <a:lumMod val="40000"/>
                <a:lumOff val="60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BF81038-2DAD-4B4D-2F44-3549E90C283E}"/>
              </a:ext>
            </a:extLst>
          </p:cNvPr>
          <p:cNvSpPr/>
          <p:nvPr/>
        </p:nvSpPr>
        <p:spPr>
          <a:xfrm>
            <a:off x="5479265" y="12282219"/>
            <a:ext cx="3492303" cy="1300641"/>
          </a:xfrm>
          <a:prstGeom prst="roundRect">
            <a:avLst>
              <a:gd name="adj" fmla="val 8814"/>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26" name="Arrow: Chevron 25">
            <a:extLst>
              <a:ext uri="{FF2B5EF4-FFF2-40B4-BE49-F238E27FC236}">
                <a16:creationId xmlns:a16="http://schemas.microsoft.com/office/drawing/2014/main" id="{2A9855F4-F336-A383-CF09-906DEAB31315}"/>
              </a:ext>
            </a:extLst>
          </p:cNvPr>
          <p:cNvSpPr/>
          <p:nvPr/>
        </p:nvSpPr>
        <p:spPr>
          <a:xfrm>
            <a:off x="3475025" y="7734030"/>
            <a:ext cx="428826" cy="415831"/>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Arrow: Chevron 26">
            <a:extLst>
              <a:ext uri="{FF2B5EF4-FFF2-40B4-BE49-F238E27FC236}">
                <a16:creationId xmlns:a16="http://schemas.microsoft.com/office/drawing/2014/main" id="{1ACA2CC5-4E03-E1BB-CD52-26A086C1B1CA}"/>
              </a:ext>
            </a:extLst>
          </p:cNvPr>
          <p:cNvSpPr/>
          <p:nvPr/>
        </p:nvSpPr>
        <p:spPr>
          <a:xfrm>
            <a:off x="3188156" y="7734031"/>
            <a:ext cx="428826" cy="415831"/>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8" name="Straight Connector 27">
            <a:extLst>
              <a:ext uri="{FF2B5EF4-FFF2-40B4-BE49-F238E27FC236}">
                <a16:creationId xmlns:a16="http://schemas.microsoft.com/office/drawing/2014/main" id="{12A58A3D-0155-7941-117D-D26B45B54BE6}"/>
              </a:ext>
            </a:extLst>
          </p:cNvPr>
          <p:cNvCxnSpPr>
            <a:cxnSpLocks/>
          </p:cNvCxnSpPr>
          <p:nvPr/>
        </p:nvCxnSpPr>
        <p:spPr>
          <a:xfrm>
            <a:off x="3853510" y="8081731"/>
            <a:ext cx="5131817" cy="0"/>
          </a:xfrm>
          <a:prstGeom prst="line">
            <a:avLst/>
          </a:prstGeom>
          <a:ln w="158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C221E762-573A-22E2-6B6A-26A939045A67}"/>
              </a:ext>
            </a:extLst>
          </p:cNvPr>
          <p:cNvSpPr/>
          <p:nvPr/>
        </p:nvSpPr>
        <p:spPr>
          <a:xfrm>
            <a:off x="5307589" y="10059616"/>
            <a:ext cx="3678397" cy="2103055"/>
          </a:xfrm>
          <a:prstGeom prst="roundRect">
            <a:avLst>
              <a:gd name="adj" fmla="val 8814"/>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81107DF4-60CD-553D-A423-1698819302DA}"/>
              </a:ext>
            </a:extLst>
          </p:cNvPr>
          <p:cNvSpPr txBox="1"/>
          <p:nvPr/>
        </p:nvSpPr>
        <p:spPr>
          <a:xfrm>
            <a:off x="6064279" y="10105353"/>
            <a:ext cx="2234886" cy="307777"/>
          </a:xfrm>
          <a:prstGeom prst="rect">
            <a:avLst/>
          </a:prstGeom>
          <a:noFill/>
        </p:spPr>
        <p:txBody>
          <a:bodyPr wrap="square" rtlCol="0">
            <a:spAutoFit/>
          </a:bodyPr>
          <a:lstStyle/>
          <a:p>
            <a:pPr algn="ctr"/>
            <a:r>
              <a:rPr lang="en-US" sz="1400" b="1" u="sng" dirty="0">
                <a:solidFill>
                  <a:schemeClr val="accent1">
                    <a:lumMod val="50000"/>
                  </a:schemeClr>
                </a:solidFill>
                <a:latin typeface="Times New Roman" panose="02020603050405020304" pitchFamily="18" charset="0"/>
                <a:cs typeface="Times New Roman" panose="02020603050405020304" pitchFamily="18" charset="0"/>
              </a:rPr>
              <a:t>INTERPRETATION</a:t>
            </a:r>
          </a:p>
        </p:txBody>
      </p:sp>
      <p:sp>
        <p:nvSpPr>
          <p:cNvPr id="43" name="TextBox 42">
            <a:extLst>
              <a:ext uri="{FF2B5EF4-FFF2-40B4-BE49-F238E27FC236}">
                <a16:creationId xmlns:a16="http://schemas.microsoft.com/office/drawing/2014/main" id="{26722AE1-A714-C068-D3E0-9897C169ABB1}"/>
              </a:ext>
            </a:extLst>
          </p:cNvPr>
          <p:cNvSpPr txBox="1"/>
          <p:nvPr/>
        </p:nvSpPr>
        <p:spPr>
          <a:xfrm>
            <a:off x="5437730" y="12285127"/>
            <a:ext cx="3656432" cy="307777"/>
          </a:xfrm>
          <a:prstGeom prst="rect">
            <a:avLst/>
          </a:prstGeom>
          <a:noFill/>
        </p:spPr>
        <p:txBody>
          <a:bodyPr wrap="square" rtlCol="0">
            <a:spAutoFit/>
          </a:bodyPr>
          <a:lstStyle/>
          <a:p>
            <a:pPr algn="ctr"/>
            <a:r>
              <a:rPr lang="en-US" sz="1400" b="1" u="sng" dirty="0">
                <a:solidFill>
                  <a:schemeClr val="accent1">
                    <a:lumMod val="50000"/>
                  </a:schemeClr>
                </a:solidFill>
                <a:latin typeface="Times New Roman" panose="02020603050405020304" pitchFamily="18" charset="0"/>
                <a:cs typeface="Times New Roman" panose="02020603050405020304" pitchFamily="18" charset="0"/>
              </a:rPr>
              <a:t>FUTURE WORK</a:t>
            </a:r>
            <a:endParaRPr lang="en-US" sz="14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2F7901B0-F251-2525-6F02-CF0487806ED8}"/>
              </a:ext>
            </a:extLst>
          </p:cNvPr>
          <p:cNvSpPr txBox="1"/>
          <p:nvPr/>
        </p:nvSpPr>
        <p:spPr>
          <a:xfrm>
            <a:off x="1568491" y="12638120"/>
            <a:ext cx="2172271" cy="307777"/>
          </a:xfrm>
          <a:prstGeom prst="rect">
            <a:avLst/>
          </a:prstGeom>
          <a:noFill/>
        </p:spPr>
        <p:txBody>
          <a:bodyPr wrap="square" rtlCol="0">
            <a:spAutoFit/>
          </a:bodyPr>
          <a:lstStyle/>
          <a:p>
            <a:pPr algn="ctr"/>
            <a:r>
              <a:rPr lang="en-US" sz="1400" b="1" u="sng" dirty="0">
                <a:solidFill>
                  <a:schemeClr val="accent4">
                    <a:lumMod val="50000"/>
                  </a:schemeClr>
                </a:solidFill>
                <a:latin typeface="Times New Roman" panose="02020603050405020304" pitchFamily="18" charset="0"/>
                <a:cs typeface="Times New Roman" panose="02020603050405020304" pitchFamily="18" charset="0"/>
              </a:rPr>
              <a:t>REFERENCES</a:t>
            </a:r>
          </a:p>
        </p:txBody>
      </p:sp>
      <p:pic>
        <p:nvPicPr>
          <p:cNvPr id="25" name="Picture 24">
            <a:extLst>
              <a:ext uri="{FF2B5EF4-FFF2-40B4-BE49-F238E27FC236}">
                <a16:creationId xmlns:a16="http://schemas.microsoft.com/office/drawing/2014/main" id="{89ACEF8E-4923-61CB-438A-F1BDF6AEB0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600" y="44063"/>
            <a:ext cx="1344173" cy="1314566"/>
          </a:xfrm>
          <a:prstGeom prst="rect">
            <a:avLst/>
          </a:prstGeom>
        </p:spPr>
      </p:pic>
      <p:sp>
        <p:nvSpPr>
          <p:cNvPr id="29" name="TextBox 28">
            <a:extLst>
              <a:ext uri="{FF2B5EF4-FFF2-40B4-BE49-F238E27FC236}">
                <a16:creationId xmlns:a16="http://schemas.microsoft.com/office/drawing/2014/main" id="{3B61A3C2-7D2E-6B32-A82D-D805C8D7CB51}"/>
              </a:ext>
            </a:extLst>
          </p:cNvPr>
          <p:cNvSpPr txBox="1"/>
          <p:nvPr/>
        </p:nvSpPr>
        <p:spPr>
          <a:xfrm>
            <a:off x="266073" y="1347336"/>
            <a:ext cx="1153235" cy="261610"/>
          </a:xfrm>
          <a:prstGeom prst="rect">
            <a:avLst/>
          </a:prstGeom>
          <a:noFill/>
        </p:spPr>
        <p:txBody>
          <a:bodyPr wrap="square" rtlCol="0">
            <a:spAutoFit/>
          </a:bodyPr>
          <a:lstStyle/>
          <a:p>
            <a:r>
              <a:rPr lang="en-US" sz="1100" b="1" dirty="0">
                <a:latin typeface="Times New Roman" panose="02020603050405020304" pitchFamily="18" charset="0"/>
                <a:cs typeface="Times New Roman" panose="02020603050405020304" pitchFamily="18" charset="0"/>
              </a:rPr>
              <a:t>DSKC SIP 2025</a:t>
            </a:r>
            <a:endParaRPr lang="en-IN" sz="1100" b="1" dirty="0">
              <a:latin typeface="Times New Roman" panose="02020603050405020304" pitchFamily="18" charset="0"/>
              <a:cs typeface="Times New Roman" panose="02020603050405020304" pitchFamily="18" charset="0"/>
            </a:endParaRPr>
          </a:p>
        </p:txBody>
      </p:sp>
      <p:sp>
        <p:nvSpPr>
          <p:cNvPr id="38" name="Rectangle: Rounded Corners 37">
            <a:extLst>
              <a:ext uri="{FF2B5EF4-FFF2-40B4-BE49-F238E27FC236}">
                <a16:creationId xmlns:a16="http://schemas.microsoft.com/office/drawing/2014/main" id="{FE3277FB-01CD-CA6D-C0B8-BF86D8A2290F}"/>
              </a:ext>
            </a:extLst>
          </p:cNvPr>
          <p:cNvSpPr/>
          <p:nvPr/>
        </p:nvSpPr>
        <p:spPr>
          <a:xfrm>
            <a:off x="3951604" y="2760053"/>
            <a:ext cx="4911665" cy="4746430"/>
          </a:xfrm>
          <a:prstGeom prst="roundRect">
            <a:avLst>
              <a:gd name="adj" fmla="val 8814"/>
            </a:avLst>
          </a:prstGeom>
          <a:solidFill>
            <a:schemeClr val="accent1">
              <a:lumMod val="40000"/>
              <a:lumOff val="60000"/>
            </a:schemeClr>
          </a:solidFill>
          <a:ln>
            <a:noFill/>
          </a:ln>
          <a:effectLst>
            <a:outerShdw blurRad="50800" dist="228600" dir="2700000" algn="tl" rotWithShape="0">
              <a:schemeClr val="accent1">
                <a:lumMod val="50000"/>
                <a:alpha val="6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3706A20D-9AE9-1673-11F6-5054D9E05CC8}"/>
              </a:ext>
            </a:extLst>
          </p:cNvPr>
          <p:cNvSpPr txBox="1"/>
          <p:nvPr/>
        </p:nvSpPr>
        <p:spPr>
          <a:xfrm>
            <a:off x="565033" y="2839978"/>
            <a:ext cx="2686017" cy="307777"/>
          </a:xfrm>
          <a:prstGeom prst="rect">
            <a:avLst/>
          </a:prstGeom>
          <a:noFill/>
        </p:spPr>
        <p:txBody>
          <a:bodyPr wrap="square" rtlCol="0">
            <a:spAutoFit/>
          </a:bodyPr>
          <a:lstStyle/>
          <a:p>
            <a:pPr algn="ctr"/>
            <a:r>
              <a:rPr lang="en-US" sz="1400" b="1" u="sng" dirty="0">
                <a:solidFill>
                  <a:schemeClr val="accent1">
                    <a:lumMod val="50000"/>
                  </a:schemeClr>
                </a:solidFill>
                <a:latin typeface="Times New Roman" panose="02020603050405020304" pitchFamily="18" charset="0"/>
                <a:cs typeface="Times New Roman" panose="02020603050405020304" pitchFamily="18" charset="0"/>
              </a:rPr>
              <a:t>COSMOLOGICAL MODEL </a:t>
            </a:r>
            <a:endParaRPr lang="en-IN" sz="1400" b="1" u="sng"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895FB50-BAA0-5221-3242-DE520E84D2AA}"/>
              </a:ext>
            </a:extLst>
          </p:cNvPr>
          <p:cNvSpPr txBox="1"/>
          <p:nvPr/>
        </p:nvSpPr>
        <p:spPr>
          <a:xfrm>
            <a:off x="4823299" y="2798831"/>
            <a:ext cx="3580401" cy="307777"/>
          </a:xfrm>
          <a:prstGeom prst="rect">
            <a:avLst/>
          </a:prstGeom>
          <a:noFill/>
        </p:spPr>
        <p:txBody>
          <a:bodyPr wrap="square" rtlCol="0">
            <a:spAutoFit/>
          </a:bodyPr>
          <a:lstStyle/>
          <a:p>
            <a:pPr algn="ctr"/>
            <a:r>
              <a:rPr lang="en-US" sz="1400" b="1" u="sng" dirty="0">
                <a:solidFill>
                  <a:schemeClr val="accent1">
                    <a:lumMod val="50000"/>
                  </a:schemeClr>
                </a:solidFill>
                <a:latin typeface="Times New Roman" panose="02020603050405020304" pitchFamily="18" charset="0"/>
                <a:cs typeface="Times New Roman" panose="02020603050405020304" pitchFamily="18" charset="0"/>
              </a:rPr>
              <a:t>DATASETS AND OBSERVABLES</a:t>
            </a:r>
            <a:endParaRPr lang="en-IN" sz="1400" b="1" u="sng"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0BD6DEA2-1AB9-9BFB-F8A2-2D49D358552A}"/>
              </a:ext>
            </a:extLst>
          </p:cNvPr>
          <p:cNvSpPr txBox="1"/>
          <p:nvPr/>
        </p:nvSpPr>
        <p:spPr>
          <a:xfrm>
            <a:off x="134483" y="3154967"/>
            <a:ext cx="3758484" cy="1985159"/>
          </a:xfrm>
          <a:prstGeom prst="rect">
            <a:avLst/>
          </a:prstGeom>
          <a:noFill/>
        </p:spPr>
        <p:txBody>
          <a:bodyPr wrap="square" rtlCol="0">
            <a:spAutoFit/>
          </a:bodyPr>
          <a:lstStyle/>
          <a:p>
            <a:r>
              <a:rPr lang="en-US" sz="1000" b="1" dirty="0">
                <a:latin typeface="Times New Roman" panose="02020603050405020304" pitchFamily="18" charset="0"/>
                <a:cs typeface="Times New Roman" panose="02020603050405020304" pitchFamily="18" charset="0"/>
              </a:rPr>
              <a:t>ΛCDM (Lambda Cold Dark Matter) </a:t>
            </a:r>
            <a:r>
              <a:rPr lang="en-US" sz="1000" dirty="0">
                <a:latin typeface="Times New Roman" panose="02020603050405020304" pitchFamily="18" charset="0"/>
                <a:cs typeface="Times New Roman" panose="02020603050405020304" pitchFamily="18" charset="0"/>
              </a:rPr>
              <a:t>is the standard cosmological model. It assumes:</a:t>
            </a:r>
            <a:br>
              <a:rPr lang="en-US" sz="1000" dirty="0">
                <a:latin typeface="Times New Roman" panose="02020603050405020304" pitchFamily="18" charset="0"/>
                <a:cs typeface="Times New Roman" panose="02020603050405020304" pitchFamily="18" charset="0"/>
              </a:rPr>
            </a:br>
            <a:endParaRPr lang="en-US" sz="1000" dirty="0">
              <a:latin typeface="Times New Roman" panose="02020603050405020304" pitchFamily="18" charset="0"/>
              <a:cs typeface="Times New Roman" panose="02020603050405020304" pitchFamily="18" charset="0"/>
            </a:endParaRPr>
          </a:p>
          <a:p>
            <a:endParaRPr lang="en-US" sz="1050" dirty="0">
              <a:latin typeface="Times New Roman" panose="02020603050405020304" pitchFamily="18" charset="0"/>
              <a:cs typeface="Times New Roman" panose="02020603050405020304" pitchFamily="18" charset="0"/>
            </a:endParaRPr>
          </a:p>
          <a:p>
            <a:endParaRPr lang="en-US" sz="1050" dirty="0">
              <a:latin typeface="Times New Roman" panose="02020603050405020304" pitchFamily="18" charset="0"/>
              <a:cs typeface="Times New Roman" panose="02020603050405020304" pitchFamily="18" charset="0"/>
            </a:endParaRPr>
          </a:p>
          <a:p>
            <a:endParaRPr lang="en-US" sz="105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The </a:t>
            </a:r>
            <a:r>
              <a:rPr lang="en-US" sz="1000" b="1" dirty="0">
                <a:latin typeface="Times New Roman" panose="02020603050405020304" pitchFamily="18" charset="0"/>
                <a:cs typeface="Times New Roman" panose="02020603050405020304" pitchFamily="18" charset="0"/>
              </a:rPr>
              <a:t>key parameters</a:t>
            </a:r>
            <a:r>
              <a:rPr lang="en-US" sz="1000" dirty="0">
                <a:latin typeface="Times New Roman" panose="02020603050405020304" pitchFamily="18" charset="0"/>
                <a:cs typeface="Times New Roman" panose="02020603050405020304" pitchFamily="18" charset="0"/>
              </a:rPr>
              <a:t> you’re constraining (e.g., H</a:t>
            </a:r>
            <a:r>
              <a:rPr lang="en-US" sz="700" dirty="0">
                <a:latin typeface="Times New Roman" panose="02020603050405020304" pitchFamily="18" charset="0"/>
                <a:cs typeface="Times New Roman" panose="02020603050405020304" pitchFamily="18" charset="0"/>
              </a:rPr>
              <a:t>0</a:t>
            </a:r>
            <a:r>
              <a:rPr lang="en-US" sz="1000" dirty="0">
                <a:latin typeface="Times New Roman" panose="02020603050405020304" pitchFamily="18" charset="0"/>
                <a:cs typeface="Times New Roman" panose="02020603050405020304" pitchFamily="18" charset="0"/>
              </a:rPr>
              <a:t>​, </a:t>
            </a:r>
            <a:r>
              <a:rPr lang="en-US" sz="1000" dirty="0" err="1">
                <a:latin typeface="Times New Roman" panose="02020603050405020304" pitchFamily="18" charset="0"/>
                <a:cs typeface="Times New Roman" panose="02020603050405020304" pitchFamily="18" charset="0"/>
              </a:rPr>
              <a:t>Ω</a:t>
            </a:r>
            <a:r>
              <a:rPr lang="en-US" sz="800" dirty="0" err="1">
                <a:latin typeface="Times New Roman" panose="02020603050405020304" pitchFamily="18" charset="0"/>
                <a:cs typeface="Times New Roman" panose="02020603050405020304" pitchFamily="18" charset="0"/>
              </a:rPr>
              <a:t>m</a:t>
            </a:r>
            <a:r>
              <a:rPr lang="en-US" sz="1000" dirty="0">
                <a:latin typeface="Times New Roman" panose="02020603050405020304" pitchFamily="18" charset="0"/>
                <a:cs typeface="Times New Roman" panose="02020603050405020304" pitchFamily="18" charset="0"/>
              </a:rPr>
              <a:t>, and Ω</a:t>
            </a:r>
            <a:r>
              <a:rPr lang="en-US" sz="700" dirty="0">
                <a:latin typeface="Times New Roman" panose="02020603050405020304" pitchFamily="18" charset="0"/>
                <a:cs typeface="Times New Roman" panose="02020603050405020304" pitchFamily="18" charset="0"/>
              </a:rPr>
              <a:t>Λ</a:t>
            </a:r>
            <a:r>
              <a:rPr lang="en-US" sz="1000" dirty="0">
                <a:latin typeface="Times New Roman" panose="02020603050405020304" pitchFamily="18" charset="0"/>
                <a:cs typeface="Times New Roman" panose="02020603050405020304" pitchFamily="18" charset="0"/>
              </a:rPr>
              <a:t>​) define the </a:t>
            </a:r>
            <a:r>
              <a:rPr lang="en-US" sz="1000" b="1" dirty="0">
                <a:latin typeface="Times New Roman" panose="02020603050405020304" pitchFamily="18" charset="0"/>
                <a:cs typeface="Times New Roman" panose="02020603050405020304" pitchFamily="18" charset="0"/>
              </a:rPr>
              <a:t>expansion history</a:t>
            </a:r>
            <a:r>
              <a:rPr lang="en-US" sz="1000" dirty="0">
                <a:latin typeface="Times New Roman" panose="02020603050405020304" pitchFamily="18" charset="0"/>
                <a:cs typeface="Times New Roman" panose="02020603050405020304" pitchFamily="18" charset="0"/>
              </a:rPr>
              <a:t> of the universe and the </a:t>
            </a:r>
            <a:r>
              <a:rPr lang="en-US" sz="1000" b="1" dirty="0">
                <a:latin typeface="Times New Roman" panose="02020603050405020304" pitchFamily="18" charset="0"/>
                <a:cs typeface="Times New Roman" panose="02020603050405020304" pitchFamily="18" charset="0"/>
              </a:rPr>
              <a:t>relative contribution</a:t>
            </a:r>
            <a:r>
              <a:rPr lang="en-US" sz="1000" dirty="0">
                <a:latin typeface="Times New Roman" panose="02020603050405020304" pitchFamily="18" charset="0"/>
                <a:cs typeface="Times New Roman" panose="02020603050405020304" pitchFamily="18" charset="0"/>
              </a:rPr>
              <a:t> of matter (</a:t>
            </a:r>
            <a:r>
              <a:rPr lang="en-US" sz="1000" dirty="0" err="1">
                <a:latin typeface="Times New Roman" panose="02020603050405020304" pitchFamily="18" charset="0"/>
                <a:cs typeface="Times New Roman" panose="02020603050405020304" pitchFamily="18" charset="0"/>
              </a:rPr>
              <a:t>Ω</a:t>
            </a:r>
            <a:r>
              <a:rPr lang="en-US" sz="800" dirty="0" err="1">
                <a:latin typeface="Times New Roman" panose="02020603050405020304" pitchFamily="18" charset="0"/>
                <a:cs typeface="Times New Roman" panose="02020603050405020304" pitchFamily="18" charset="0"/>
              </a:rPr>
              <a:t>m</a:t>
            </a:r>
            <a:r>
              <a:rPr lang="en-US" sz="1000" dirty="0">
                <a:latin typeface="Times New Roman" panose="02020603050405020304" pitchFamily="18" charset="0"/>
                <a:cs typeface="Times New Roman" panose="02020603050405020304" pitchFamily="18" charset="0"/>
              </a:rPr>
              <a:t>) and dark energy (Ω</a:t>
            </a:r>
            <a:r>
              <a:rPr lang="en-US" sz="700" dirty="0">
                <a:latin typeface="Times New Roman" panose="02020603050405020304" pitchFamily="18" charset="0"/>
                <a:cs typeface="Times New Roman" panose="02020603050405020304" pitchFamily="18" charset="0"/>
              </a:rPr>
              <a:t>Λ</a:t>
            </a:r>
            <a:r>
              <a:rPr lang="en-US" sz="1000" dirty="0">
                <a:latin typeface="Times New Roman" panose="02020603050405020304" pitchFamily="18" charset="0"/>
                <a:cs typeface="Times New Roman" panose="02020603050405020304" pitchFamily="18" charset="0"/>
              </a:rPr>
              <a:t>).</a:t>
            </a:r>
          </a:p>
          <a:p>
            <a:r>
              <a:rPr lang="en-IN" sz="1000" dirty="0">
                <a:latin typeface="Times New Roman" panose="02020603050405020304" pitchFamily="18" charset="0"/>
                <a:cs typeface="Times New Roman" panose="02020603050405020304" pitchFamily="18" charset="0"/>
              </a:rPr>
              <a:t>This model is considered better because of its </a:t>
            </a:r>
          </a:p>
          <a:p>
            <a:r>
              <a:rPr lang="en-IN" sz="1000" dirty="0">
                <a:latin typeface="Times New Roman" panose="02020603050405020304" pitchFamily="18" charset="0"/>
                <a:cs typeface="Times New Roman" panose="02020603050405020304" pitchFamily="18" charset="0"/>
              </a:rPr>
              <a:t>simplicity, consistency with observations and </a:t>
            </a:r>
          </a:p>
          <a:p>
            <a:r>
              <a:rPr lang="en-IN" sz="1000" dirty="0">
                <a:latin typeface="Times New Roman" panose="02020603050405020304" pitchFamily="18" charset="0"/>
                <a:cs typeface="Times New Roman" panose="02020603050405020304" pitchFamily="18" charset="0"/>
              </a:rPr>
              <a:t>free parameters.</a:t>
            </a:r>
            <a:endParaRPr lang="en-US" sz="1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97E6534-A5C2-DAE1-2F61-142E8B73D031}"/>
              </a:ext>
            </a:extLst>
          </p:cNvPr>
          <p:cNvSpPr txBox="1"/>
          <p:nvPr/>
        </p:nvSpPr>
        <p:spPr>
          <a:xfrm>
            <a:off x="3971856" y="3317433"/>
            <a:ext cx="3139281" cy="1169551"/>
          </a:xfrm>
          <a:prstGeom prst="rect">
            <a:avLst/>
          </a:prstGeom>
          <a:noFill/>
        </p:spPr>
        <p:txBody>
          <a:bodyPr wrap="square" rtlCol="0">
            <a:spAutoFit/>
          </a:bodyPr>
          <a:lstStyle/>
          <a:p>
            <a:pPr algn="just"/>
            <a:r>
              <a:rPr lang="en-US" sz="1000" dirty="0">
                <a:latin typeface="Times New Roman" panose="02020603050405020304" pitchFamily="18" charset="0"/>
                <a:cs typeface="Times New Roman" panose="02020603050405020304" pitchFamily="18" charset="0"/>
              </a:rPr>
              <a:t>Type 1a Supernova</a:t>
            </a:r>
            <a:r>
              <a:rPr lang="en-IN" sz="1000" dirty="0">
                <a:latin typeface="Times New Roman" panose="02020603050405020304" pitchFamily="18" charset="0"/>
                <a:cs typeface="Times New Roman" panose="02020603050405020304" pitchFamily="18" charset="0"/>
              </a:rPr>
              <a:t> is the result of a white dwarf star gaining too much mass from a companion star and undergoing a thermonuclear explosion. This is useful to understand the</a:t>
            </a:r>
            <a:r>
              <a:rPr lang="en-IN" sz="1000" b="1" dirty="0">
                <a:latin typeface="Times New Roman" panose="02020603050405020304" pitchFamily="18" charset="0"/>
                <a:cs typeface="Times New Roman" panose="02020603050405020304" pitchFamily="18" charset="0"/>
              </a:rPr>
              <a:t> </a:t>
            </a:r>
            <a:r>
              <a:rPr lang="en-IN" sz="1000" dirty="0">
                <a:latin typeface="Times New Roman" panose="02020603050405020304" pitchFamily="18" charset="0"/>
                <a:cs typeface="Times New Roman" panose="02020603050405020304" pitchFamily="18" charset="0"/>
              </a:rPr>
              <a:t>structure, expansion, and fate of the universe</a:t>
            </a:r>
            <a:r>
              <a:rPr lang="en-IN" sz="1000" b="1" dirty="0">
                <a:latin typeface="Times New Roman" panose="02020603050405020304" pitchFamily="18" charset="0"/>
                <a:cs typeface="Times New Roman" panose="02020603050405020304" pitchFamily="18" charset="0"/>
              </a:rPr>
              <a:t>.</a:t>
            </a:r>
            <a:r>
              <a:rPr lang="en-IN" sz="1000" dirty="0">
                <a:latin typeface="Times New Roman" panose="02020603050405020304" pitchFamily="18" charset="0"/>
                <a:cs typeface="Times New Roman" panose="02020603050405020304" pitchFamily="18" charset="0"/>
              </a:rPr>
              <a:t> Their consistent brightness makes them “standard candles” (used to calculate distances to far away galaxies).</a:t>
            </a:r>
            <a:endParaRPr lang="en-IN" sz="1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2F3E845-EA09-F1A1-D47C-B57C10ECED6E}"/>
              </a:ext>
            </a:extLst>
          </p:cNvPr>
          <p:cNvSpPr txBox="1"/>
          <p:nvPr/>
        </p:nvSpPr>
        <p:spPr>
          <a:xfrm>
            <a:off x="4730456" y="4400169"/>
            <a:ext cx="3580253" cy="276999"/>
          </a:xfrm>
          <a:prstGeom prst="rect">
            <a:avLst/>
          </a:prstGeom>
          <a:noFill/>
        </p:spPr>
        <p:txBody>
          <a:bodyPr wrap="square" rtlCol="0">
            <a:spAutoFit/>
          </a:bodyPr>
          <a:lstStyle/>
          <a:p>
            <a:pPr marL="285750" indent="-285750">
              <a:buFont typeface="Wingdings" panose="05000000000000000000" pitchFamily="2" charset="2"/>
              <a:buChar char="Ø"/>
            </a:pPr>
            <a:r>
              <a:rPr lang="en-US" sz="1200" b="1" dirty="0">
                <a:latin typeface="Times New Roman" panose="02020603050405020304" pitchFamily="18" charset="0"/>
                <a:cs typeface="Times New Roman" panose="02020603050405020304" pitchFamily="18" charset="0"/>
              </a:rPr>
              <a:t>Cosmic Chronometer </a:t>
            </a:r>
            <a:r>
              <a:rPr lang="en-US" sz="1100" b="1" dirty="0">
                <a:latin typeface="Times New Roman" panose="02020603050405020304" pitchFamily="18" charset="0"/>
                <a:cs typeface="Times New Roman" panose="02020603050405020304" pitchFamily="18" charset="0"/>
              </a:rPr>
              <a:t>(CC)</a:t>
            </a:r>
            <a:endParaRPr lang="en-IN" sz="11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67D6C41-206E-1C71-95DA-DBAD2F313F2D}"/>
              </a:ext>
            </a:extLst>
          </p:cNvPr>
          <p:cNvSpPr txBox="1"/>
          <p:nvPr/>
        </p:nvSpPr>
        <p:spPr>
          <a:xfrm>
            <a:off x="5335364" y="4620600"/>
            <a:ext cx="3501383" cy="707886"/>
          </a:xfrm>
          <a:prstGeom prst="rect">
            <a:avLst/>
          </a:prstGeom>
          <a:noFill/>
        </p:spPr>
        <p:txBody>
          <a:bodyPr wrap="square" rtlCol="0">
            <a:spAutoFit/>
          </a:bodyPr>
          <a:lstStyle/>
          <a:p>
            <a:pPr algn="just"/>
            <a:r>
              <a:rPr lang="en-IN" sz="1000" dirty="0">
                <a:latin typeface="Times New Roman" panose="02020603050405020304" pitchFamily="18" charset="0"/>
                <a:cs typeface="Times New Roman" panose="02020603050405020304" pitchFamily="18" charset="0"/>
              </a:rPr>
              <a:t>Acting like a cosmic clock, it helps scientists determine how fast the universe was expanding at various times. By measuring the differential age of galaxies, they can directly calculate the Hubble parameter (H(z)) at a given redshift (z).</a:t>
            </a:r>
          </a:p>
        </p:txBody>
      </p:sp>
      <p:sp>
        <p:nvSpPr>
          <p:cNvPr id="22" name="TextBox 21">
            <a:extLst>
              <a:ext uri="{FF2B5EF4-FFF2-40B4-BE49-F238E27FC236}">
                <a16:creationId xmlns:a16="http://schemas.microsoft.com/office/drawing/2014/main" id="{2A7157CA-6BD8-E462-5A49-52BB5E33AA86}"/>
              </a:ext>
            </a:extLst>
          </p:cNvPr>
          <p:cNvSpPr txBox="1"/>
          <p:nvPr/>
        </p:nvSpPr>
        <p:spPr>
          <a:xfrm>
            <a:off x="5566736" y="5278472"/>
            <a:ext cx="2362421" cy="276999"/>
          </a:xfrm>
          <a:prstGeom prst="rect">
            <a:avLst/>
          </a:prstGeom>
          <a:noFill/>
        </p:spPr>
        <p:txBody>
          <a:bodyPr wrap="square" rtlCol="0">
            <a:spAutoFit/>
          </a:bodyPr>
          <a:lstStyle/>
          <a:p>
            <a:pPr marL="285750" indent="-285750">
              <a:buFont typeface="Wingdings" panose="05000000000000000000" pitchFamily="2" charset="2"/>
              <a:buChar char="Ø"/>
            </a:pPr>
            <a:r>
              <a:rPr lang="en-US" sz="1200" b="1" dirty="0">
                <a:latin typeface="Times New Roman" panose="02020603050405020304" pitchFamily="18" charset="0"/>
                <a:cs typeface="Times New Roman" panose="02020603050405020304" pitchFamily="18" charset="0"/>
              </a:rPr>
              <a:t>Quasars </a:t>
            </a:r>
            <a:r>
              <a:rPr lang="en-US" sz="1100" b="1" dirty="0">
                <a:latin typeface="Times New Roman" panose="02020603050405020304" pitchFamily="18" charset="0"/>
                <a:cs typeface="Times New Roman" panose="02020603050405020304" pitchFamily="18" charset="0"/>
              </a:rPr>
              <a:t>(QSO)</a:t>
            </a:r>
            <a:endParaRPr lang="en-IN" sz="1100" b="1"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DD4A859-9460-FEEB-D220-D89B712367D4}"/>
              </a:ext>
            </a:extLst>
          </p:cNvPr>
          <p:cNvSpPr txBox="1"/>
          <p:nvPr/>
        </p:nvSpPr>
        <p:spPr>
          <a:xfrm>
            <a:off x="5570765" y="5498006"/>
            <a:ext cx="3251664" cy="861774"/>
          </a:xfrm>
          <a:prstGeom prst="rect">
            <a:avLst/>
          </a:prstGeom>
          <a:noFill/>
        </p:spPr>
        <p:txBody>
          <a:bodyPr wrap="square" rtlCol="0">
            <a:spAutoFit/>
          </a:bodyPr>
          <a:lstStyle/>
          <a:p>
            <a:pPr algn="just"/>
            <a:r>
              <a:rPr lang="en-IN" sz="1000" dirty="0">
                <a:latin typeface="Times New Roman" panose="02020603050405020304" pitchFamily="18" charset="0"/>
                <a:cs typeface="Times New Roman" panose="02020603050405020304" pitchFamily="18" charset="0"/>
              </a:rPr>
              <a:t>Quasars are ultra-bright, energetic objects powered by supermassive black holes, acting like cosmic lighthouses. They're observed across vast distances through apparent magnitude (m) and used to derive their absolute luminosity (L).</a:t>
            </a:r>
          </a:p>
        </p:txBody>
      </p:sp>
      <p:sp>
        <p:nvSpPr>
          <p:cNvPr id="30" name="TextBox 29">
            <a:extLst>
              <a:ext uri="{FF2B5EF4-FFF2-40B4-BE49-F238E27FC236}">
                <a16:creationId xmlns:a16="http://schemas.microsoft.com/office/drawing/2014/main" id="{01365B57-6A05-C2F1-6F46-9404BB1E3E10}"/>
              </a:ext>
            </a:extLst>
          </p:cNvPr>
          <p:cNvSpPr txBox="1"/>
          <p:nvPr/>
        </p:nvSpPr>
        <p:spPr>
          <a:xfrm>
            <a:off x="5436192" y="6339508"/>
            <a:ext cx="3093439" cy="276999"/>
          </a:xfrm>
          <a:prstGeom prst="rect">
            <a:avLst/>
          </a:prstGeom>
          <a:noFill/>
        </p:spPr>
        <p:txBody>
          <a:bodyPr wrap="square" rtlCol="0">
            <a:spAutoFit/>
          </a:bodyPr>
          <a:lstStyle/>
          <a:p>
            <a:pPr marL="285750" indent="-285750">
              <a:buFont typeface="Wingdings" panose="05000000000000000000" pitchFamily="2" charset="2"/>
              <a:buChar char="Ø"/>
            </a:pPr>
            <a:r>
              <a:rPr lang="en-US" sz="1200" b="1" dirty="0">
                <a:latin typeface="Times New Roman" panose="02020603050405020304" pitchFamily="18" charset="0"/>
                <a:cs typeface="Times New Roman" panose="02020603050405020304" pitchFamily="18" charset="0"/>
              </a:rPr>
              <a:t>Baryonic Acoustic Oscillations </a:t>
            </a:r>
            <a:r>
              <a:rPr lang="en-US" sz="1100" b="1" dirty="0">
                <a:latin typeface="Times New Roman" panose="02020603050405020304" pitchFamily="18" charset="0"/>
                <a:cs typeface="Times New Roman" panose="02020603050405020304" pitchFamily="18" charset="0"/>
              </a:rPr>
              <a:t>(BAO)</a:t>
            </a:r>
            <a:endParaRPr lang="en-IN" sz="1100" b="1"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585A0C03-C805-468A-70EE-450A7ACAB89B}"/>
              </a:ext>
            </a:extLst>
          </p:cNvPr>
          <p:cNvSpPr txBox="1"/>
          <p:nvPr/>
        </p:nvSpPr>
        <p:spPr>
          <a:xfrm>
            <a:off x="85165" y="5840603"/>
            <a:ext cx="2576533" cy="553998"/>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We constrain the ΛCDM model using a Bayesian framework that incorporates late-time cosmological datasets.</a:t>
            </a:r>
            <a:endParaRPr lang="en-IN" sz="10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E1C2CFFF-902E-272F-DAF1-0D597A4D27F3}"/>
              </a:ext>
            </a:extLst>
          </p:cNvPr>
          <p:cNvSpPr txBox="1"/>
          <p:nvPr/>
        </p:nvSpPr>
        <p:spPr>
          <a:xfrm>
            <a:off x="203753" y="6453759"/>
            <a:ext cx="2683054" cy="861774"/>
          </a:xfrm>
          <a:prstGeom prst="rect">
            <a:avLst/>
          </a:prstGeom>
          <a:noFill/>
        </p:spPr>
        <p:txBody>
          <a:bodyPr wrap="square" rtlCol="0">
            <a:spAutoFit/>
          </a:bodyPr>
          <a:lstStyle/>
          <a:p>
            <a:r>
              <a:rPr lang="en-IN" sz="1000" dirty="0">
                <a:latin typeface="Times New Roman" panose="02020603050405020304" pitchFamily="18" charset="0"/>
                <a:cs typeface="Times New Roman" panose="02020603050405020304" pitchFamily="18" charset="0"/>
              </a:rPr>
              <a:t>The </a:t>
            </a:r>
            <a:r>
              <a:rPr lang="el-GR" sz="1000" dirty="0">
                <a:latin typeface="Times New Roman" panose="02020603050405020304" pitchFamily="18" charset="0"/>
                <a:cs typeface="Times New Roman" panose="02020603050405020304" pitchFamily="18" charset="0"/>
              </a:rPr>
              <a:t>Λ</a:t>
            </a:r>
            <a:r>
              <a:rPr lang="en-IN" sz="1000" dirty="0">
                <a:latin typeface="Times New Roman" panose="02020603050405020304" pitchFamily="18" charset="0"/>
                <a:cs typeface="Times New Roman" panose="02020603050405020304" pitchFamily="18" charset="0"/>
              </a:rPr>
              <a:t>CDM model describes a flat universe        dominated by cold dark matter and a cosmological constant </a:t>
            </a:r>
            <a:r>
              <a:rPr lang="el-GR" sz="1000" dirty="0">
                <a:latin typeface="Times New Roman" panose="02020603050405020304" pitchFamily="18" charset="0"/>
                <a:cs typeface="Times New Roman" panose="02020603050405020304" pitchFamily="18" charset="0"/>
              </a:rPr>
              <a:t>Λ, </a:t>
            </a:r>
            <a:r>
              <a:rPr lang="en-IN" sz="1000" dirty="0">
                <a:latin typeface="Times New Roman" panose="02020603050405020304" pitchFamily="18" charset="0"/>
                <a:cs typeface="Times New Roman" panose="02020603050405020304" pitchFamily="18" charset="0"/>
              </a:rPr>
              <a:t>with the dark energy equation of state fixed as</a:t>
            </a:r>
          </a:p>
          <a:p>
            <a:endParaRPr lang="en-IN" sz="1000" dirty="0">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id="{122D2C1D-8C34-6A1F-0B6B-C542E9B0AD39}"/>
              </a:ext>
            </a:extLst>
          </p:cNvPr>
          <p:cNvPicPr>
            <a:picLocks noChangeAspect="1"/>
          </p:cNvPicPr>
          <p:nvPr/>
        </p:nvPicPr>
        <p:blipFill>
          <a:blip r:embed="rId4"/>
          <a:stretch>
            <a:fillRect/>
          </a:stretch>
        </p:blipFill>
        <p:spPr>
          <a:xfrm>
            <a:off x="904230" y="7086411"/>
            <a:ext cx="1059676" cy="293268"/>
          </a:xfrm>
          <a:prstGeom prst="rect">
            <a:avLst/>
          </a:prstGeom>
        </p:spPr>
      </p:pic>
      <p:sp>
        <p:nvSpPr>
          <p:cNvPr id="35" name="TextBox 34">
            <a:extLst>
              <a:ext uri="{FF2B5EF4-FFF2-40B4-BE49-F238E27FC236}">
                <a16:creationId xmlns:a16="http://schemas.microsoft.com/office/drawing/2014/main" id="{54069377-675C-334F-FD0E-084FF556F1A1}"/>
              </a:ext>
            </a:extLst>
          </p:cNvPr>
          <p:cNvSpPr txBox="1"/>
          <p:nvPr/>
        </p:nvSpPr>
        <p:spPr>
          <a:xfrm>
            <a:off x="206262" y="7306086"/>
            <a:ext cx="3119838" cy="692497"/>
          </a:xfrm>
          <a:prstGeom prst="rect">
            <a:avLst/>
          </a:prstGeom>
          <a:noFill/>
        </p:spPr>
        <p:txBody>
          <a:bodyPr wrap="square" rtlCol="0">
            <a:spAutoFit/>
          </a:bodyPr>
          <a:lstStyle/>
          <a:p>
            <a:r>
              <a:rPr lang="en-IN" sz="1000" dirty="0">
                <a:latin typeface="Times New Roman" panose="02020603050405020304" pitchFamily="18" charset="0"/>
                <a:cs typeface="Times New Roman" panose="02020603050405020304" pitchFamily="18" charset="0"/>
              </a:rPr>
              <a:t>This represents a constant vacuum energy density driving the universe's accelerated expansion.</a:t>
            </a:r>
          </a:p>
          <a:p>
            <a:endParaRPr lang="en-IN"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3607ED2A-FB4A-535D-F9A0-2ECC78AADFD7}"/>
              </a:ext>
            </a:extLst>
          </p:cNvPr>
          <p:cNvSpPr txBox="1"/>
          <p:nvPr/>
        </p:nvSpPr>
        <p:spPr>
          <a:xfrm>
            <a:off x="65808" y="7613421"/>
            <a:ext cx="3213629" cy="253916"/>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2</a:t>
            </a:r>
            <a:r>
              <a:rPr lang="en-IN" sz="1050" b="1" dirty="0">
                <a:latin typeface="Times New Roman" panose="02020603050405020304" pitchFamily="18" charset="0"/>
                <a:cs typeface="Times New Roman" panose="02020603050405020304" pitchFamily="18" charset="0"/>
              </a:rPr>
              <a:t>. </a:t>
            </a:r>
            <a:r>
              <a:rPr lang="en-IN" sz="1000" b="1" dirty="0">
                <a:latin typeface="Times New Roman" panose="02020603050405020304" pitchFamily="18" charset="0"/>
                <a:cs typeface="Times New Roman" panose="02020603050405020304" pitchFamily="18" charset="0"/>
              </a:rPr>
              <a:t>Parameter Estimation</a:t>
            </a:r>
            <a:r>
              <a:rPr lang="en-IN" sz="1000"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E03AB0A1-0B0E-99BF-337E-6B2910B90AF3}"/>
              </a:ext>
            </a:extLst>
          </p:cNvPr>
          <p:cNvSpPr txBox="1"/>
          <p:nvPr/>
        </p:nvSpPr>
        <p:spPr>
          <a:xfrm>
            <a:off x="207557" y="7761521"/>
            <a:ext cx="2425698" cy="707886"/>
          </a:xfrm>
          <a:prstGeom prst="rect">
            <a:avLst/>
          </a:prstGeom>
          <a:noFill/>
        </p:spPr>
        <p:txBody>
          <a:bodyPr wrap="square" rtlCol="0">
            <a:spAutoFit/>
          </a:bodyPr>
          <a:lstStyle/>
          <a:p>
            <a:r>
              <a:rPr lang="en-IN" sz="1000" dirty="0">
                <a:latin typeface="Times New Roman" panose="02020603050405020304" pitchFamily="18" charset="0"/>
                <a:cs typeface="Times New Roman" panose="02020603050405020304" pitchFamily="18" charset="0"/>
              </a:rPr>
              <a:t>Free parameters:</a:t>
            </a:r>
            <a:br>
              <a:rPr lang="en-IN" sz="1000" dirty="0">
                <a:latin typeface="Times New Roman" panose="02020603050405020304" pitchFamily="18" charset="0"/>
                <a:cs typeface="Times New Roman" panose="02020603050405020304" pitchFamily="18" charset="0"/>
              </a:rPr>
            </a:br>
            <a:r>
              <a:rPr lang="en-IN" sz="1000" dirty="0">
                <a:latin typeface="Times New Roman" panose="02020603050405020304" pitchFamily="18" charset="0"/>
                <a:cs typeface="Times New Roman" panose="02020603050405020304" pitchFamily="18" charset="0"/>
              </a:rPr>
              <a:t>H</a:t>
            </a:r>
            <a:r>
              <a:rPr lang="en-IN" sz="800" dirty="0">
                <a:latin typeface="Times New Roman" panose="02020603050405020304" pitchFamily="18" charset="0"/>
                <a:cs typeface="Times New Roman" panose="02020603050405020304" pitchFamily="18" charset="0"/>
              </a:rPr>
              <a:t>0</a:t>
            </a:r>
            <a:r>
              <a:rPr lang="en-IN" sz="1000" dirty="0">
                <a:latin typeface="Times New Roman" panose="02020603050405020304" pitchFamily="18" charset="0"/>
                <a:cs typeface="Times New Roman" panose="02020603050405020304" pitchFamily="18" charset="0"/>
              </a:rPr>
              <a:t>: Hubble constant</a:t>
            </a:r>
            <a:br>
              <a:rPr lang="en-IN" sz="1000" dirty="0">
                <a:latin typeface="Times New Roman" panose="02020603050405020304" pitchFamily="18" charset="0"/>
                <a:cs typeface="Times New Roman" panose="02020603050405020304" pitchFamily="18" charset="0"/>
              </a:rPr>
            </a:br>
            <a:r>
              <a:rPr lang="el-GR" sz="1000" dirty="0">
                <a:latin typeface="Times New Roman" panose="02020603050405020304" pitchFamily="18" charset="0"/>
                <a:cs typeface="Times New Roman" panose="02020603050405020304" pitchFamily="18" charset="0"/>
              </a:rPr>
              <a:t>Ω</a:t>
            </a:r>
            <a:r>
              <a:rPr lang="en-IN" sz="800" dirty="0">
                <a:latin typeface="Times New Roman" panose="02020603050405020304" pitchFamily="18" charset="0"/>
                <a:cs typeface="Times New Roman" panose="02020603050405020304" pitchFamily="18" charset="0"/>
              </a:rPr>
              <a:t>m</a:t>
            </a:r>
            <a:r>
              <a:rPr lang="en-IN" sz="1000" dirty="0">
                <a:latin typeface="Times New Roman" panose="02020603050405020304" pitchFamily="18" charset="0"/>
                <a:cs typeface="Times New Roman" panose="02020603050405020304" pitchFamily="18" charset="0"/>
              </a:rPr>
              <a:t>: Matter density</a:t>
            </a:r>
            <a:br>
              <a:rPr lang="en-IN" sz="1000" dirty="0">
                <a:latin typeface="Times New Roman" panose="02020603050405020304" pitchFamily="18" charset="0"/>
                <a:cs typeface="Times New Roman" panose="02020603050405020304" pitchFamily="18" charset="0"/>
              </a:rPr>
            </a:br>
            <a:r>
              <a:rPr lang="en-IN" sz="1000" dirty="0">
                <a:latin typeface="Times New Roman" panose="02020603050405020304" pitchFamily="18" charset="0"/>
                <a:cs typeface="Times New Roman" panose="02020603050405020304" pitchFamily="18" charset="0"/>
              </a:rPr>
              <a:t>M: Absolute magnitude (SNe </a:t>
            </a:r>
            <a:r>
              <a:rPr lang="en-IN" sz="1000" dirty="0" err="1">
                <a:latin typeface="Times New Roman" panose="02020603050405020304" pitchFamily="18" charset="0"/>
                <a:cs typeface="Times New Roman" panose="02020603050405020304" pitchFamily="18" charset="0"/>
              </a:rPr>
              <a:t>Ia</a:t>
            </a:r>
            <a:r>
              <a:rPr lang="en-IN" sz="1000" dirty="0">
                <a:latin typeface="Times New Roman" panose="02020603050405020304" pitchFamily="18" charset="0"/>
                <a:cs typeface="Times New Roman" panose="02020603050405020304" pitchFamily="18" charset="0"/>
              </a:rPr>
              <a:t>)</a:t>
            </a:r>
          </a:p>
        </p:txBody>
      </p:sp>
      <p:sp>
        <p:nvSpPr>
          <p:cNvPr id="46" name="TextBox 45">
            <a:extLst>
              <a:ext uri="{FF2B5EF4-FFF2-40B4-BE49-F238E27FC236}">
                <a16:creationId xmlns:a16="http://schemas.microsoft.com/office/drawing/2014/main" id="{774CF05B-D953-9C5A-9F8C-50F757ACCEE2}"/>
              </a:ext>
            </a:extLst>
          </p:cNvPr>
          <p:cNvSpPr txBox="1"/>
          <p:nvPr/>
        </p:nvSpPr>
        <p:spPr>
          <a:xfrm>
            <a:off x="76598" y="8356821"/>
            <a:ext cx="2007474" cy="253916"/>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3. Bayesian inference</a:t>
            </a:r>
            <a:endParaRPr lang="en-IN" sz="1050" b="1"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6359738A-405E-B0C2-5165-A80990FB2790}"/>
              </a:ext>
            </a:extLst>
          </p:cNvPr>
          <p:cNvSpPr txBox="1"/>
          <p:nvPr/>
        </p:nvSpPr>
        <p:spPr>
          <a:xfrm>
            <a:off x="195390" y="8506958"/>
            <a:ext cx="3083211" cy="253916"/>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We use Bayes’ theorem to infer posterior probability</a:t>
            </a:r>
            <a:r>
              <a:rPr lang="en-US" sz="1050" dirty="0">
                <a:latin typeface="Times New Roman" panose="02020603050405020304" pitchFamily="18" charset="0"/>
                <a:cs typeface="Times New Roman" panose="02020603050405020304" pitchFamily="18" charset="0"/>
              </a:rPr>
              <a:t>:</a:t>
            </a:r>
            <a:endParaRPr lang="en-IN" sz="1050" dirty="0">
              <a:latin typeface="Times New Roman" panose="02020603050405020304" pitchFamily="18" charset="0"/>
              <a:cs typeface="Times New Roman" panose="02020603050405020304" pitchFamily="18" charset="0"/>
            </a:endParaRPr>
          </a:p>
        </p:txBody>
      </p:sp>
      <p:pic>
        <p:nvPicPr>
          <p:cNvPr id="51" name="Picture 50">
            <a:extLst>
              <a:ext uri="{FF2B5EF4-FFF2-40B4-BE49-F238E27FC236}">
                <a16:creationId xmlns:a16="http://schemas.microsoft.com/office/drawing/2014/main" id="{98C0BB67-A3CE-B8B8-94A3-D37F680B5ACC}"/>
              </a:ext>
            </a:extLst>
          </p:cNvPr>
          <p:cNvPicPr>
            <a:picLocks noChangeAspect="1"/>
          </p:cNvPicPr>
          <p:nvPr/>
        </p:nvPicPr>
        <p:blipFill>
          <a:blip r:embed="rId5"/>
          <a:stretch>
            <a:fillRect/>
          </a:stretch>
        </p:blipFill>
        <p:spPr>
          <a:xfrm>
            <a:off x="1109299" y="8716280"/>
            <a:ext cx="1068912" cy="319674"/>
          </a:xfrm>
          <a:prstGeom prst="rect">
            <a:avLst/>
          </a:prstGeom>
        </p:spPr>
      </p:pic>
      <p:sp>
        <p:nvSpPr>
          <p:cNvPr id="53" name="TextBox 52">
            <a:extLst>
              <a:ext uri="{FF2B5EF4-FFF2-40B4-BE49-F238E27FC236}">
                <a16:creationId xmlns:a16="http://schemas.microsoft.com/office/drawing/2014/main" id="{296D7B90-659D-2E18-F63C-38052773CA38}"/>
              </a:ext>
            </a:extLst>
          </p:cNvPr>
          <p:cNvSpPr txBox="1"/>
          <p:nvPr/>
        </p:nvSpPr>
        <p:spPr>
          <a:xfrm>
            <a:off x="195390" y="8935467"/>
            <a:ext cx="2877958" cy="253916"/>
          </a:xfrm>
          <a:prstGeom prst="rect">
            <a:avLst/>
          </a:prstGeom>
          <a:noFill/>
        </p:spPr>
        <p:txBody>
          <a:bodyPr wrap="square" rtlCol="0">
            <a:spAutoFit/>
          </a:bodyPr>
          <a:lstStyle/>
          <a:p>
            <a:r>
              <a:rPr lang="en-IN" sz="1000" dirty="0">
                <a:latin typeface="Times New Roman" panose="02020603050405020304" pitchFamily="18" charset="0"/>
                <a:cs typeface="Times New Roman" panose="02020603050405020304" pitchFamily="18" charset="0"/>
              </a:rPr>
              <a:t>where </a:t>
            </a:r>
            <a:r>
              <a:rPr lang="el-GR" sz="1000" dirty="0">
                <a:latin typeface="Times New Roman" panose="02020603050405020304" pitchFamily="18" charset="0"/>
                <a:cs typeface="Times New Roman" panose="02020603050405020304" pitchFamily="18" charset="0"/>
              </a:rPr>
              <a:t>θ={</a:t>
            </a:r>
            <a:r>
              <a:rPr lang="en-IN" sz="1000" dirty="0">
                <a:latin typeface="Times New Roman" panose="02020603050405020304" pitchFamily="18" charset="0"/>
                <a:cs typeface="Times New Roman" panose="02020603050405020304" pitchFamily="18" charset="0"/>
              </a:rPr>
              <a:t>H</a:t>
            </a:r>
            <a:r>
              <a:rPr lang="en-IN" sz="800" dirty="0">
                <a:latin typeface="Times New Roman" panose="02020603050405020304" pitchFamily="18" charset="0"/>
                <a:cs typeface="Times New Roman" panose="02020603050405020304" pitchFamily="18" charset="0"/>
              </a:rPr>
              <a:t>0</a:t>
            </a:r>
            <a:r>
              <a:rPr lang="en-IN" sz="1000" dirty="0">
                <a:latin typeface="Times New Roman" panose="02020603050405020304" pitchFamily="18" charset="0"/>
                <a:cs typeface="Times New Roman" panose="02020603050405020304" pitchFamily="18" charset="0"/>
              </a:rPr>
              <a:t>, </a:t>
            </a:r>
            <a:r>
              <a:rPr lang="el-GR" sz="1000" dirty="0">
                <a:latin typeface="Times New Roman" panose="02020603050405020304" pitchFamily="18" charset="0"/>
                <a:cs typeface="Times New Roman" panose="02020603050405020304" pitchFamily="18" charset="0"/>
              </a:rPr>
              <a:t>Ω</a:t>
            </a:r>
            <a:r>
              <a:rPr lang="en-IN" sz="800" dirty="0">
                <a:latin typeface="Times New Roman" panose="02020603050405020304" pitchFamily="18" charset="0"/>
                <a:cs typeface="Times New Roman" panose="02020603050405020304" pitchFamily="18" charset="0"/>
              </a:rPr>
              <a:t>m</a:t>
            </a:r>
            <a:r>
              <a:rPr lang="en-IN" sz="1000" dirty="0">
                <a:latin typeface="Times New Roman" panose="02020603050405020304" pitchFamily="18" charset="0"/>
                <a:cs typeface="Times New Roman" panose="02020603050405020304" pitchFamily="18" charset="0"/>
              </a:rPr>
              <a:t>, M}</a:t>
            </a:r>
          </a:p>
        </p:txBody>
      </p:sp>
      <p:sp>
        <p:nvSpPr>
          <p:cNvPr id="54" name="TextBox 53">
            <a:extLst>
              <a:ext uri="{FF2B5EF4-FFF2-40B4-BE49-F238E27FC236}">
                <a16:creationId xmlns:a16="http://schemas.microsoft.com/office/drawing/2014/main" id="{4D8D5AB1-E767-A37C-565D-04C2290D8658}"/>
              </a:ext>
            </a:extLst>
          </p:cNvPr>
          <p:cNvSpPr txBox="1"/>
          <p:nvPr/>
        </p:nvSpPr>
        <p:spPr>
          <a:xfrm>
            <a:off x="203753" y="9074042"/>
            <a:ext cx="2705580" cy="253916"/>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Chi square estimation</a:t>
            </a:r>
            <a:endParaRPr lang="en-IN" sz="1050" b="1" dirty="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34CF761B-7D47-E1CA-D56A-E7362CB215DB}"/>
              </a:ext>
            </a:extLst>
          </p:cNvPr>
          <p:cNvSpPr txBox="1"/>
          <p:nvPr/>
        </p:nvSpPr>
        <p:spPr>
          <a:xfrm>
            <a:off x="224764" y="9254342"/>
            <a:ext cx="2895716" cy="253916"/>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For each dataset, the chi-square is calculated as:</a:t>
            </a:r>
            <a:endParaRPr lang="en-IN" sz="1000" dirty="0">
              <a:latin typeface="Times New Roman" panose="02020603050405020304" pitchFamily="18" charset="0"/>
              <a:cs typeface="Times New Roman" panose="02020603050405020304" pitchFamily="18" charset="0"/>
            </a:endParaRPr>
          </a:p>
        </p:txBody>
      </p:sp>
      <p:pic>
        <p:nvPicPr>
          <p:cNvPr id="57" name="Picture 56">
            <a:extLst>
              <a:ext uri="{FF2B5EF4-FFF2-40B4-BE49-F238E27FC236}">
                <a16:creationId xmlns:a16="http://schemas.microsoft.com/office/drawing/2014/main" id="{88E2DC2A-6ECC-C8C7-955C-9716FD093E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4817" y="9428014"/>
            <a:ext cx="1408529" cy="323269"/>
          </a:xfrm>
          <a:prstGeom prst="rect">
            <a:avLst/>
          </a:prstGeom>
        </p:spPr>
      </p:pic>
      <p:sp>
        <p:nvSpPr>
          <p:cNvPr id="58" name="TextBox 57">
            <a:extLst>
              <a:ext uri="{FF2B5EF4-FFF2-40B4-BE49-F238E27FC236}">
                <a16:creationId xmlns:a16="http://schemas.microsoft.com/office/drawing/2014/main" id="{FFE5A656-37BF-0CC6-5443-4692C7733315}"/>
              </a:ext>
            </a:extLst>
          </p:cNvPr>
          <p:cNvSpPr txBox="1"/>
          <p:nvPr/>
        </p:nvSpPr>
        <p:spPr>
          <a:xfrm>
            <a:off x="194496" y="9702068"/>
            <a:ext cx="2800565" cy="400110"/>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The total chi square of combined datasets can be calculated as:</a:t>
            </a:r>
            <a:endParaRPr lang="en-IN" sz="1000" dirty="0">
              <a:latin typeface="Times New Roman" panose="02020603050405020304" pitchFamily="18" charset="0"/>
              <a:cs typeface="Times New Roman" panose="02020603050405020304" pitchFamily="18" charset="0"/>
            </a:endParaRPr>
          </a:p>
        </p:txBody>
      </p:sp>
      <p:pic>
        <p:nvPicPr>
          <p:cNvPr id="60" name="Picture 59">
            <a:extLst>
              <a:ext uri="{FF2B5EF4-FFF2-40B4-BE49-F238E27FC236}">
                <a16:creationId xmlns:a16="http://schemas.microsoft.com/office/drawing/2014/main" id="{FE0A5B76-9C63-7FB8-B805-86233E548D67}"/>
              </a:ext>
            </a:extLst>
          </p:cNvPr>
          <p:cNvPicPr>
            <a:picLocks noChangeAspect="1"/>
          </p:cNvPicPr>
          <p:nvPr/>
        </p:nvPicPr>
        <p:blipFill>
          <a:blip r:embed="rId7"/>
          <a:stretch>
            <a:fillRect/>
          </a:stretch>
        </p:blipFill>
        <p:spPr>
          <a:xfrm>
            <a:off x="599392" y="10025987"/>
            <a:ext cx="1948686" cy="221900"/>
          </a:xfrm>
          <a:prstGeom prst="rect">
            <a:avLst/>
          </a:prstGeom>
        </p:spPr>
      </p:pic>
      <p:sp>
        <p:nvSpPr>
          <p:cNvPr id="61" name="TextBox 60">
            <a:extLst>
              <a:ext uri="{FF2B5EF4-FFF2-40B4-BE49-F238E27FC236}">
                <a16:creationId xmlns:a16="http://schemas.microsoft.com/office/drawing/2014/main" id="{463473AF-07F3-A8DE-FEB3-2485C7D27A8C}"/>
              </a:ext>
            </a:extLst>
          </p:cNvPr>
          <p:cNvSpPr txBox="1"/>
          <p:nvPr/>
        </p:nvSpPr>
        <p:spPr>
          <a:xfrm>
            <a:off x="222048" y="10191610"/>
            <a:ext cx="2652527" cy="253916"/>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Likelihood construction</a:t>
            </a:r>
            <a:endParaRPr lang="en-IN" sz="1050" b="1" dirty="0">
              <a:latin typeface="Times New Roman" panose="02020603050405020304" pitchFamily="18" charset="0"/>
              <a:cs typeface="Times New Roman" panose="02020603050405020304" pitchFamily="18" charset="0"/>
            </a:endParaRPr>
          </a:p>
        </p:txBody>
      </p:sp>
      <p:pic>
        <p:nvPicPr>
          <p:cNvPr id="67" name="Picture 66">
            <a:extLst>
              <a:ext uri="{FF2B5EF4-FFF2-40B4-BE49-F238E27FC236}">
                <a16:creationId xmlns:a16="http://schemas.microsoft.com/office/drawing/2014/main" id="{8897FC0E-D308-F2AA-66D1-8229651158BC}"/>
              </a:ext>
            </a:extLst>
          </p:cNvPr>
          <p:cNvPicPr>
            <a:picLocks noChangeAspect="1"/>
          </p:cNvPicPr>
          <p:nvPr/>
        </p:nvPicPr>
        <p:blipFill>
          <a:blip r:embed="rId8"/>
          <a:stretch>
            <a:fillRect/>
          </a:stretch>
        </p:blipFill>
        <p:spPr>
          <a:xfrm>
            <a:off x="1016558" y="10370227"/>
            <a:ext cx="947348" cy="271780"/>
          </a:xfrm>
          <a:prstGeom prst="rect">
            <a:avLst/>
          </a:prstGeom>
        </p:spPr>
      </p:pic>
      <p:sp>
        <p:nvSpPr>
          <p:cNvPr id="68" name="TextBox 67">
            <a:extLst>
              <a:ext uri="{FF2B5EF4-FFF2-40B4-BE49-F238E27FC236}">
                <a16:creationId xmlns:a16="http://schemas.microsoft.com/office/drawing/2014/main" id="{53A618C3-EF48-65CF-609D-FDD271CAF40D}"/>
              </a:ext>
            </a:extLst>
          </p:cNvPr>
          <p:cNvSpPr txBox="1"/>
          <p:nvPr/>
        </p:nvSpPr>
        <p:spPr>
          <a:xfrm>
            <a:off x="211029" y="10558308"/>
            <a:ext cx="2917210" cy="246221"/>
          </a:xfrm>
          <a:prstGeom prst="rect">
            <a:avLst/>
          </a:prstGeom>
          <a:noFill/>
        </p:spPr>
        <p:txBody>
          <a:bodyPr wrap="square" rtlCol="0">
            <a:spAutoFit/>
          </a:bodyPr>
          <a:lstStyle/>
          <a:p>
            <a:r>
              <a:rPr lang="en-US" sz="1000" b="1" dirty="0">
                <a:latin typeface="Times New Roman" panose="02020603050405020304" pitchFamily="18" charset="0"/>
                <a:cs typeface="Times New Roman" panose="02020603050405020304" pitchFamily="18" charset="0"/>
              </a:rPr>
              <a:t>MCMC Sampling using </a:t>
            </a:r>
            <a:r>
              <a:rPr lang="en-US" sz="1000" b="1" i="1" dirty="0">
                <a:latin typeface="Times New Roman" panose="02020603050405020304" pitchFamily="18" charset="0"/>
                <a:cs typeface="Times New Roman" panose="02020603050405020304" pitchFamily="18" charset="0"/>
              </a:rPr>
              <a:t>emcee</a:t>
            </a:r>
            <a:endParaRPr lang="en-IN" sz="1000" b="1" i="1" dirty="0">
              <a:latin typeface="Times New Roman" panose="02020603050405020304" pitchFamily="18" charset="0"/>
              <a:cs typeface="Times New Roman" panose="02020603050405020304" pitchFamily="18" charset="0"/>
            </a:endParaRPr>
          </a:p>
        </p:txBody>
      </p:sp>
      <p:sp>
        <p:nvSpPr>
          <p:cNvPr id="69" name="TextBox 68">
            <a:extLst>
              <a:ext uri="{FF2B5EF4-FFF2-40B4-BE49-F238E27FC236}">
                <a16:creationId xmlns:a16="http://schemas.microsoft.com/office/drawing/2014/main" id="{CA6292F2-9A1A-C27A-E77C-C1D125E9FB5F}"/>
              </a:ext>
            </a:extLst>
          </p:cNvPr>
          <p:cNvSpPr txBox="1"/>
          <p:nvPr/>
        </p:nvSpPr>
        <p:spPr>
          <a:xfrm>
            <a:off x="224764" y="11610696"/>
            <a:ext cx="2090412"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We define the </a:t>
            </a:r>
            <a:r>
              <a:rPr lang="en-US" sz="1000" b="1" dirty="0">
                <a:latin typeface="Times New Roman" panose="02020603050405020304" pitchFamily="18" charset="0"/>
                <a:cs typeface="Times New Roman" panose="02020603050405020304" pitchFamily="18" charset="0"/>
              </a:rPr>
              <a:t>log-posterior</a:t>
            </a:r>
            <a:r>
              <a:rPr lang="en-US" sz="1000" dirty="0">
                <a:latin typeface="Times New Roman" panose="02020603050405020304" pitchFamily="18" charset="0"/>
                <a:cs typeface="Times New Roman" panose="02020603050405020304" pitchFamily="18" charset="0"/>
              </a:rPr>
              <a:t> as:</a:t>
            </a:r>
            <a:endParaRPr lang="en-IN" sz="1000" dirty="0">
              <a:latin typeface="Times New Roman" panose="02020603050405020304" pitchFamily="18" charset="0"/>
              <a:cs typeface="Times New Roman" panose="02020603050405020304" pitchFamily="18" charset="0"/>
            </a:endParaRPr>
          </a:p>
        </p:txBody>
      </p:sp>
      <p:pic>
        <p:nvPicPr>
          <p:cNvPr id="71" name="Picture 70">
            <a:extLst>
              <a:ext uri="{FF2B5EF4-FFF2-40B4-BE49-F238E27FC236}">
                <a16:creationId xmlns:a16="http://schemas.microsoft.com/office/drawing/2014/main" id="{A2DC8D24-4136-D23D-2F68-6C6182612089}"/>
              </a:ext>
            </a:extLst>
          </p:cNvPr>
          <p:cNvPicPr>
            <a:picLocks noChangeAspect="1"/>
          </p:cNvPicPr>
          <p:nvPr/>
        </p:nvPicPr>
        <p:blipFill>
          <a:blip r:embed="rId9"/>
          <a:stretch>
            <a:fillRect/>
          </a:stretch>
        </p:blipFill>
        <p:spPr>
          <a:xfrm>
            <a:off x="834817" y="11877911"/>
            <a:ext cx="1455684" cy="150894"/>
          </a:xfrm>
          <a:prstGeom prst="rect">
            <a:avLst/>
          </a:prstGeom>
        </p:spPr>
      </p:pic>
      <p:sp>
        <p:nvSpPr>
          <p:cNvPr id="75" name="Rectangle 6">
            <a:extLst>
              <a:ext uri="{FF2B5EF4-FFF2-40B4-BE49-F238E27FC236}">
                <a16:creationId xmlns:a16="http://schemas.microsoft.com/office/drawing/2014/main" id="{69388518-564B-1782-CCE7-9ECD66BB779A}"/>
              </a:ext>
            </a:extLst>
          </p:cNvPr>
          <p:cNvSpPr>
            <a:spLocks noChangeArrowheads="1"/>
          </p:cNvSpPr>
          <p:nvPr/>
        </p:nvSpPr>
        <p:spPr bwMode="auto">
          <a:xfrm>
            <a:off x="221155" y="12002677"/>
            <a:ext cx="303168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use </a:t>
            </a:r>
            <a:r>
              <a:rPr kumimoji="0" lang="en-US" altLang="en-US" sz="1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emcee</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sample the posterior distribution based on our log-likelihood and priors. The output chains are used to extract statistical constraints and visualize parameter correlations via corner plots.</a:t>
            </a:r>
          </a:p>
        </p:txBody>
      </p:sp>
      <p:sp>
        <p:nvSpPr>
          <p:cNvPr id="79" name="TextBox 78">
            <a:extLst>
              <a:ext uri="{FF2B5EF4-FFF2-40B4-BE49-F238E27FC236}">
                <a16:creationId xmlns:a16="http://schemas.microsoft.com/office/drawing/2014/main" id="{17F8861D-BC86-79CC-4FF0-5412B47B477B}"/>
              </a:ext>
            </a:extLst>
          </p:cNvPr>
          <p:cNvSpPr txBox="1"/>
          <p:nvPr/>
        </p:nvSpPr>
        <p:spPr>
          <a:xfrm>
            <a:off x="3090147" y="11578174"/>
            <a:ext cx="2172682" cy="461665"/>
          </a:xfrm>
          <a:prstGeom prst="rect">
            <a:avLst/>
          </a:prstGeom>
          <a:noFill/>
        </p:spPr>
        <p:txBody>
          <a:bodyPr wrap="square" rtlCol="0">
            <a:spAutoFit/>
          </a:bodyPr>
          <a:lstStyle/>
          <a:p>
            <a:pPr algn="just"/>
            <a:r>
              <a:rPr lang="en-US" sz="800" b="1" dirty="0">
                <a:latin typeface="Times New Roman" panose="02020603050405020304" pitchFamily="18" charset="0"/>
                <a:cs typeface="Times New Roman" panose="02020603050405020304" pitchFamily="18" charset="0"/>
              </a:rPr>
              <a:t>Figure1:</a:t>
            </a:r>
            <a:r>
              <a:rPr lang="en-US" sz="800" dirty="0">
                <a:latin typeface="Times New Roman" panose="02020603050405020304" pitchFamily="18" charset="0"/>
                <a:cs typeface="Times New Roman" panose="02020603050405020304" pitchFamily="18" charset="0"/>
              </a:rPr>
              <a:t> Corner plot showing marginalized 1D posterior distributions and 2D confidence contours for H</a:t>
            </a:r>
            <a:r>
              <a:rPr lang="en-US" sz="600" dirty="0">
                <a:latin typeface="Times New Roman" panose="02020603050405020304" pitchFamily="18" charset="0"/>
                <a:cs typeface="Times New Roman" panose="02020603050405020304" pitchFamily="18" charset="0"/>
              </a:rPr>
              <a:t>0​</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Ω</a:t>
            </a:r>
            <a:r>
              <a:rPr lang="en-US" sz="600" dirty="0" err="1">
                <a:latin typeface="Times New Roman" panose="02020603050405020304" pitchFamily="18" charset="0"/>
                <a:cs typeface="Times New Roman" panose="02020603050405020304" pitchFamily="18" charset="0"/>
              </a:rPr>
              <a:t>m</a:t>
            </a:r>
            <a:r>
              <a:rPr lang="en-US" sz="800" dirty="0">
                <a:latin typeface="Times New Roman" panose="02020603050405020304" pitchFamily="18" charset="0"/>
                <a:cs typeface="Times New Roman" panose="02020603050405020304" pitchFamily="18" charset="0"/>
              </a:rPr>
              <a:t>​, and M. </a:t>
            </a:r>
          </a:p>
        </p:txBody>
      </p:sp>
      <p:sp>
        <p:nvSpPr>
          <p:cNvPr id="80" name="TextBox 79">
            <a:extLst>
              <a:ext uri="{FF2B5EF4-FFF2-40B4-BE49-F238E27FC236}">
                <a16:creationId xmlns:a16="http://schemas.microsoft.com/office/drawing/2014/main" id="{FC79E4EC-A191-038F-A9BB-8DF6075BAE16}"/>
              </a:ext>
            </a:extLst>
          </p:cNvPr>
          <p:cNvSpPr txBox="1"/>
          <p:nvPr/>
        </p:nvSpPr>
        <p:spPr>
          <a:xfrm>
            <a:off x="4041030" y="8143252"/>
            <a:ext cx="5144938" cy="400110"/>
          </a:xfrm>
          <a:prstGeom prst="rect">
            <a:avLst/>
          </a:prstGeom>
          <a:noFill/>
        </p:spPr>
        <p:txBody>
          <a:bodyPr wrap="square" rtlCol="0">
            <a:spAutoFit/>
          </a:bodyPr>
          <a:lstStyle/>
          <a:p>
            <a:pPr algn="just"/>
            <a:r>
              <a:rPr lang="en-IN" sz="1000" dirty="0">
                <a:latin typeface="Times New Roman" panose="02020603050405020304" pitchFamily="18" charset="0"/>
                <a:cs typeface="Times New Roman" panose="02020603050405020304" pitchFamily="18" charset="0"/>
              </a:rPr>
              <a:t>We obtained posterior constraints on the </a:t>
            </a:r>
            <a:r>
              <a:rPr lang="el-GR" sz="1000" dirty="0">
                <a:latin typeface="Times New Roman" panose="02020603050405020304" pitchFamily="18" charset="0"/>
                <a:cs typeface="Times New Roman" panose="02020603050405020304" pitchFamily="18" charset="0"/>
              </a:rPr>
              <a:t>Λ</a:t>
            </a:r>
            <a:r>
              <a:rPr lang="en-IN" sz="1000" dirty="0">
                <a:latin typeface="Times New Roman" panose="02020603050405020304" pitchFamily="18" charset="0"/>
                <a:cs typeface="Times New Roman" panose="02020603050405020304" pitchFamily="18" charset="0"/>
              </a:rPr>
              <a:t>CDM parameters using a combined dataset : </a:t>
            </a:r>
          </a:p>
          <a:p>
            <a:pPr algn="just"/>
            <a:r>
              <a:rPr lang="en-IN" sz="1000" dirty="0">
                <a:latin typeface="Times New Roman" panose="02020603050405020304" pitchFamily="18" charset="0"/>
                <a:cs typeface="Times New Roman" panose="02020603050405020304" pitchFamily="18" charset="0"/>
              </a:rPr>
              <a:t>SNe </a:t>
            </a:r>
            <a:r>
              <a:rPr lang="en-IN" sz="1000" dirty="0" err="1">
                <a:latin typeface="Times New Roman" panose="02020603050405020304" pitchFamily="18" charset="0"/>
                <a:cs typeface="Times New Roman" panose="02020603050405020304" pitchFamily="18" charset="0"/>
              </a:rPr>
              <a:t>Ia</a:t>
            </a:r>
            <a:r>
              <a:rPr lang="en-IN" sz="1000" dirty="0">
                <a:latin typeface="Times New Roman" panose="02020603050405020304" pitchFamily="18" charset="0"/>
                <a:cs typeface="Times New Roman" panose="02020603050405020304" pitchFamily="18" charset="0"/>
              </a:rPr>
              <a:t>, BAO, CC and QSO.</a:t>
            </a:r>
          </a:p>
        </p:txBody>
      </p:sp>
      <p:sp>
        <p:nvSpPr>
          <p:cNvPr id="91" name="TextBox 90">
            <a:extLst>
              <a:ext uri="{FF2B5EF4-FFF2-40B4-BE49-F238E27FC236}">
                <a16:creationId xmlns:a16="http://schemas.microsoft.com/office/drawing/2014/main" id="{47AD2808-FAAD-05EB-CF50-10807EC72DAE}"/>
              </a:ext>
            </a:extLst>
          </p:cNvPr>
          <p:cNvSpPr txBox="1"/>
          <p:nvPr/>
        </p:nvSpPr>
        <p:spPr>
          <a:xfrm>
            <a:off x="5153583" y="9205335"/>
            <a:ext cx="3777362" cy="707886"/>
          </a:xfrm>
          <a:prstGeom prst="rect">
            <a:avLst/>
          </a:prstGeom>
          <a:noFill/>
        </p:spPr>
        <p:txBody>
          <a:bodyPr wrap="square" rtlCol="0">
            <a:spAutoFit/>
          </a:bodyPr>
          <a:lstStyle/>
          <a:p>
            <a:pPr marL="171450" indent="-171450" algn="just">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The corner plot shows well-constrained posteriors and correlations among parameters.</a:t>
            </a:r>
          </a:p>
          <a:p>
            <a:pPr marL="171450" indent="-171450" algn="just">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The use of multiple late-time datasets significantly improves the precision of parameter estimation.</a:t>
            </a:r>
          </a:p>
        </p:txBody>
      </p:sp>
      <p:sp>
        <p:nvSpPr>
          <p:cNvPr id="100" name="TextBox 99">
            <a:extLst>
              <a:ext uri="{FF2B5EF4-FFF2-40B4-BE49-F238E27FC236}">
                <a16:creationId xmlns:a16="http://schemas.microsoft.com/office/drawing/2014/main" id="{055FFE41-436A-4F43-E502-8D870CEA90A0}"/>
              </a:ext>
            </a:extLst>
          </p:cNvPr>
          <p:cNvSpPr txBox="1"/>
          <p:nvPr/>
        </p:nvSpPr>
        <p:spPr>
          <a:xfrm>
            <a:off x="5387657" y="6556669"/>
            <a:ext cx="3425539" cy="1138773"/>
          </a:xfrm>
          <a:prstGeom prst="rect">
            <a:avLst/>
          </a:prstGeom>
          <a:noFill/>
        </p:spPr>
        <p:txBody>
          <a:bodyPr wrap="square" rtlCol="0">
            <a:spAutoFit/>
          </a:bodyPr>
          <a:lstStyle/>
          <a:p>
            <a:pPr algn="just"/>
            <a:r>
              <a:rPr lang="en-IN" sz="1000" dirty="0">
                <a:latin typeface="Times New Roman" panose="02020603050405020304" pitchFamily="18" charset="0"/>
                <a:cs typeface="Times New Roman" panose="02020603050405020304" pitchFamily="18" charset="0"/>
              </a:rPr>
              <a:t>Baryon Acoustic Oscillations, caused by early-universe fluctuations in baryonic matter, leave imprints which provide precise distance measurements across redshifts, helping to determine the cosmic parameters like the Hubble constant and matter density to study the current universe expansion.</a:t>
            </a:r>
          </a:p>
          <a:p>
            <a:pPr algn="just"/>
            <a:endParaRPr lang="en-IN" dirty="0">
              <a:latin typeface="Times New Roman" panose="02020603050405020304" pitchFamily="18" charset="0"/>
              <a:cs typeface="Times New Roman" panose="02020603050405020304" pitchFamily="18" charset="0"/>
            </a:endParaRPr>
          </a:p>
        </p:txBody>
      </p:sp>
      <p:sp>
        <p:nvSpPr>
          <p:cNvPr id="101" name="TextBox 100">
            <a:extLst>
              <a:ext uri="{FF2B5EF4-FFF2-40B4-BE49-F238E27FC236}">
                <a16:creationId xmlns:a16="http://schemas.microsoft.com/office/drawing/2014/main" id="{B49AE97B-6AC4-089A-D458-8EDFD9A66A42}"/>
              </a:ext>
            </a:extLst>
          </p:cNvPr>
          <p:cNvSpPr txBox="1"/>
          <p:nvPr/>
        </p:nvSpPr>
        <p:spPr>
          <a:xfrm>
            <a:off x="164721" y="1987817"/>
            <a:ext cx="8848966" cy="553998"/>
          </a:xfrm>
          <a:prstGeom prst="rect">
            <a:avLst/>
          </a:prstGeom>
          <a:noFill/>
        </p:spPr>
        <p:txBody>
          <a:bodyPr wrap="square" rtlCol="0">
            <a:spAutoFit/>
          </a:bodyPr>
          <a:lstStyle/>
          <a:p>
            <a:pPr algn="just"/>
            <a:r>
              <a:rPr lang="en-US" sz="1000" dirty="0">
                <a:latin typeface="Times New Roman" panose="02020603050405020304" pitchFamily="18" charset="0"/>
                <a:cs typeface="Times New Roman" panose="02020603050405020304" pitchFamily="18" charset="0"/>
              </a:rPr>
              <a:t>In this project, we aim to reproduce and verify some interesting results of the paper </a:t>
            </a:r>
            <a:r>
              <a:rPr lang="en-US" sz="1000" dirty="0">
                <a:solidFill>
                  <a:srgbClr val="FF0000"/>
                </a:solidFill>
                <a:latin typeface="Times New Roman" panose="02020603050405020304" pitchFamily="18" charset="0"/>
                <a:cs typeface="Times New Roman" panose="02020603050405020304" pitchFamily="18" charset="0"/>
              </a:rPr>
              <a:t>[1] </a:t>
            </a:r>
            <a:r>
              <a:rPr lang="en-US" sz="1000" dirty="0">
                <a:latin typeface="Times New Roman" panose="02020603050405020304" pitchFamily="18" charset="0"/>
                <a:cs typeface="Times New Roman" panose="02020603050405020304" pitchFamily="18" charset="0"/>
              </a:rPr>
              <a:t>.The work focuses on affirming the results of ΛCDM model, collecting data from </a:t>
            </a:r>
            <a:r>
              <a:rPr lang="en-IN" sz="1000" dirty="0">
                <a:latin typeface="Times New Roman" panose="02020603050405020304" pitchFamily="18" charset="0"/>
                <a:cs typeface="Times New Roman" panose="02020603050405020304" pitchFamily="18" charset="0"/>
              </a:rPr>
              <a:t>SNe </a:t>
            </a:r>
            <a:r>
              <a:rPr lang="en-IN" sz="1000" dirty="0" err="1">
                <a:latin typeface="Times New Roman" panose="02020603050405020304" pitchFamily="18" charset="0"/>
                <a:cs typeface="Times New Roman" panose="02020603050405020304" pitchFamily="18" charset="0"/>
              </a:rPr>
              <a:t>Ia</a:t>
            </a:r>
            <a:r>
              <a:rPr lang="en-IN" sz="1000" dirty="0">
                <a:latin typeface="Times New Roman" panose="02020603050405020304" pitchFamily="18" charset="0"/>
                <a:cs typeface="Times New Roman" panose="02020603050405020304" pitchFamily="18" charset="0"/>
              </a:rPr>
              <a:t>, CC, QSO, BAO, and replicating the methodology of original paper to verify the estimated best fit value of Hubble constant (</a:t>
            </a:r>
            <a:r>
              <a:rPr lang="en-US" sz="1000" dirty="0">
                <a:latin typeface="Times New Roman" panose="02020603050405020304" pitchFamily="18" charset="0"/>
                <a:cs typeface="Times New Roman" panose="02020603050405020304" pitchFamily="18" charset="0"/>
              </a:rPr>
              <a:t>H</a:t>
            </a:r>
            <a:r>
              <a:rPr lang="en-US" sz="700" dirty="0">
                <a:latin typeface="Times New Roman" panose="02020603050405020304" pitchFamily="18" charset="0"/>
                <a:cs typeface="Times New Roman" panose="02020603050405020304" pitchFamily="18" charset="0"/>
              </a:rPr>
              <a:t>0</a:t>
            </a:r>
            <a:r>
              <a:rPr lang="en-US" sz="1000" dirty="0">
                <a:latin typeface="Times New Roman" panose="02020603050405020304" pitchFamily="18" charset="0"/>
                <a:cs typeface="Times New Roman" panose="02020603050405020304" pitchFamily="18" charset="0"/>
              </a:rPr>
              <a:t>) and matter density (</a:t>
            </a:r>
            <a:r>
              <a:rPr lang="en-US" sz="1000" dirty="0" err="1">
                <a:latin typeface="Times New Roman" panose="02020603050405020304" pitchFamily="18" charset="0"/>
                <a:cs typeface="Times New Roman" panose="02020603050405020304" pitchFamily="18" charset="0"/>
              </a:rPr>
              <a:t>Ω</a:t>
            </a:r>
            <a:r>
              <a:rPr lang="en-US" sz="900" dirty="0" err="1">
                <a:latin typeface="Times New Roman" panose="02020603050405020304" pitchFamily="18" charset="0"/>
                <a:cs typeface="Times New Roman" panose="02020603050405020304" pitchFamily="18" charset="0"/>
              </a:rPr>
              <a:t>m</a:t>
            </a:r>
            <a:r>
              <a:rPr lang="en-US" sz="1000" dirty="0">
                <a:latin typeface="Times New Roman" panose="02020603050405020304" pitchFamily="18" charset="0"/>
                <a:cs typeface="Times New Roman" panose="02020603050405020304" pitchFamily="18" charset="0"/>
              </a:rPr>
              <a:t>) using statistical tools like Chi-Square analysis and MCMC sampling method.</a:t>
            </a:r>
            <a:endParaRPr lang="en-IN" sz="1000" dirty="0">
              <a:latin typeface="Times New Roman" panose="02020603050405020304" pitchFamily="18" charset="0"/>
              <a:cs typeface="Times New Roman" panose="02020603050405020304" pitchFamily="18" charset="0"/>
            </a:endParaRPr>
          </a:p>
        </p:txBody>
      </p:sp>
      <p:sp>
        <p:nvSpPr>
          <p:cNvPr id="108" name="TextBox 107">
            <a:extLst>
              <a:ext uri="{FF2B5EF4-FFF2-40B4-BE49-F238E27FC236}">
                <a16:creationId xmlns:a16="http://schemas.microsoft.com/office/drawing/2014/main" id="{08BD9270-D5FB-E55A-D04A-F73DA9545C01}"/>
              </a:ext>
            </a:extLst>
          </p:cNvPr>
          <p:cNvSpPr txBox="1"/>
          <p:nvPr/>
        </p:nvSpPr>
        <p:spPr>
          <a:xfrm>
            <a:off x="1946943" y="888633"/>
            <a:ext cx="6286430" cy="754053"/>
          </a:xfrm>
          <a:prstGeom prst="rect">
            <a:avLst/>
          </a:prstGeom>
          <a:noFill/>
        </p:spPr>
        <p:txBody>
          <a:bodyPr wrap="square" rtlCol="0">
            <a:spAutoFit/>
          </a:bodyPr>
          <a:lstStyle/>
          <a:p>
            <a:pPr algn="ctr"/>
            <a:r>
              <a:rPr lang="en-US" sz="1200" b="1" dirty="0" err="1">
                <a:latin typeface="Times New Roman" panose="02020603050405020304" pitchFamily="18" charset="0"/>
                <a:cs typeface="Times New Roman" panose="02020603050405020304" pitchFamily="18" charset="0"/>
              </a:rPr>
              <a:t>Abhilipsa</a:t>
            </a:r>
            <a:r>
              <a:rPr lang="en-US" sz="1200" b="1" dirty="0">
                <a:latin typeface="Times New Roman" panose="02020603050405020304" pitchFamily="18" charset="0"/>
                <a:cs typeface="Times New Roman" panose="02020603050405020304" pitchFamily="18" charset="0"/>
              </a:rPr>
              <a:t> Patra,  </a:t>
            </a:r>
            <a:r>
              <a:rPr lang="en-US" sz="1200" b="1" dirty="0" err="1">
                <a:latin typeface="Times New Roman" panose="02020603050405020304" pitchFamily="18" charset="0"/>
                <a:cs typeface="Times New Roman" panose="02020603050405020304" pitchFamily="18" charset="0"/>
              </a:rPr>
              <a:t>Anveeta</a:t>
            </a:r>
            <a:r>
              <a:rPr lang="en-US" sz="1200" b="1" dirty="0">
                <a:latin typeface="Times New Roman" panose="02020603050405020304" pitchFamily="18" charset="0"/>
                <a:cs typeface="Times New Roman" panose="02020603050405020304" pitchFamily="18" charset="0"/>
              </a:rPr>
              <a:t> Mohanty, Ayushi Gupta, Ms. Bhumika</a:t>
            </a:r>
          </a:p>
          <a:p>
            <a:pPr algn="ctr"/>
            <a:r>
              <a:rPr lang="en-US" sz="1100" dirty="0">
                <a:latin typeface="Times New Roman" panose="02020603050405020304" pitchFamily="18" charset="0"/>
                <a:cs typeface="Times New Roman" panose="02020603050405020304" pitchFamily="18" charset="0"/>
              </a:rPr>
              <a:t>B.Sc. (H) Physics, Miranda House</a:t>
            </a:r>
          </a:p>
          <a:p>
            <a:pPr algn="ctr"/>
            <a:r>
              <a:rPr lang="en-US" sz="800" dirty="0">
                <a:latin typeface="Times New Roman" panose="02020603050405020304" pitchFamily="18" charset="0"/>
                <a:cs typeface="Times New Roman" panose="02020603050405020304" pitchFamily="18" charset="0"/>
              </a:rPr>
              <a:t> </a:t>
            </a:r>
          </a:p>
          <a:p>
            <a:pPr algn="ctr"/>
            <a:r>
              <a:rPr lang="en-US" sz="1200" dirty="0">
                <a:latin typeface="Times New Roman" panose="02020603050405020304" pitchFamily="18" charset="0"/>
                <a:cs typeface="Times New Roman" panose="02020603050405020304" pitchFamily="18" charset="0"/>
              </a:rPr>
              <a:t>Mentors: Dr. Abha Dev Habib and Dr. Nisha Rani</a:t>
            </a:r>
          </a:p>
        </p:txBody>
      </p:sp>
      <p:sp>
        <p:nvSpPr>
          <p:cNvPr id="2" name="Rectangle 1">
            <a:extLst>
              <a:ext uri="{FF2B5EF4-FFF2-40B4-BE49-F238E27FC236}">
                <a16:creationId xmlns:a16="http://schemas.microsoft.com/office/drawing/2014/main" id="{45B08281-5C45-FFDE-F666-C8EC14D5BD98}"/>
              </a:ext>
            </a:extLst>
          </p:cNvPr>
          <p:cNvSpPr/>
          <p:nvPr/>
        </p:nvSpPr>
        <p:spPr>
          <a:xfrm>
            <a:off x="5412927" y="8837046"/>
            <a:ext cx="3340573" cy="31846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D0E34C90-3B11-1CB4-EED1-56B23F45C9BA}"/>
              </a:ext>
            </a:extLst>
          </p:cNvPr>
          <p:cNvSpPr txBox="1"/>
          <p:nvPr/>
        </p:nvSpPr>
        <p:spPr>
          <a:xfrm>
            <a:off x="201715" y="12868813"/>
            <a:ext cx="4454952" cy="1077218"/>
          </a:xfrm>
          <a:prstGeom prst="rect">
            <a:avLst/>
          </a:prstGeom>
          <a:noFill/>
        </p:spPr>
        <p:txBody>
          <a:bodyPr wrap="square" rtlCol="0">
            <a:spAutoFit/>
          </a:bodyPr>
          <a:lstStyle/>
          <a:p>
            <a:pPr marL="228600" indent="-228600">
              <a:buFont typeface="+mj-lt"/>
              <a:buAutoNum type="arabicPeriod"/>
            </a:pPr>
            <a:r>
              <a:rPr lang="en-IN" sz="800" dirty="0"/>
              <a:t>Barua, S., &amp; Desai, S. (2025). </a:t>
            </a:r>
            <a:r>
              <a:rPr lang="en-IN" sz="800" i="1" dirty="0"/>
              <a:t>Constraints on Dark Energy Models Using Late Universe Probes</a:t>
            </a:r>
            <a:r>
              <a:rPr lang="en-IN" sz="800" dirty="0"/>
              <a:t>. </a:t>
            </a:r>
            <a:r>
              <a:rPr lang="en-IN" sz="800" dirty="0">
                <a:solidFill>
                  <a:srgbClr val="FF0000"/>
                </a:solidFill>
                <a:hlinkClick r:id="rId10">
                  <a:extLst>
                    <a:ext uri="{A12FA001-AC4F-418D-AE19-62706E023703}">
                      <ahyp:hlinkClr xmlns:ahyp="http://schemas.microsoft.com/office/drawing/2018/hyperlinkcolor" val="tx"/>
                    </a:ext>
                  </a:extLst>
                </a:hlinkClick>
              </a:rPr>
              <a:t>arXiv:2506.12709</a:t>
            </a:r>
            <a:br>
              <a:rPr lang="en-IN" sz="800" dirty="0"/>
            </a:br>
            <a:r>
              <a:rPr lang="en-IN" sz="800" i="1" dirty="0"/>
              <a:t>(Includes QSO, CC , BAO datasets)</a:t>
            </a:r>
          </a:p>
          <a:p>
            <a:pPr marL="228600" indent="-228600">
              <a:buFont typeface="+mj-lt"/>
              <a:buAutoNum type="arabicPeriod"/>
            </a:pPr>
            <a:r>
              <a:rPr lang="en-IN" sz="800" i="1" dirty="0">
                <a:solidFill>
                  <a:srgbClr val="FF0000"/>
                </a:solidFill>
                <a:hlinkClick r:id="rId11">
                  <a:extLst>
                    <a:ext uri="{A12FA001-AC4F-418D-AE19-62706E023703}">
                      <ahyp:hlinkClr xmlns:ahyp="http://schemas.microsoft.com/office/drawing/2018/hyperlinkcolor" val="tx"/>
                    </a:ext>
                  </a:extLst>
                </a:hlinkClick>
              </a:rPr>
              <a:t>https://github.com/PantheonPlusSH0ES/DataRelease</a:t>
            </a:r>
            <a:r>
              <a:rPr lang="en-IN" sz="800" i="1" dirty="0">
                <a:solidFill>
                  <a:srgbClr val="FF0000"/>
                </a:solidFill>
              </a:rPr>
              <a:t> </a:t>
            </a:r>
            <a:r>
              <a:rPr lang="en-IN" sz="800" i="1" dirty="0"/>
              <a:t> (includes Pantheon plus datasets)</a:t>
            </a:r>
          </a:p>
          <a:p>
            <a:pPr marL="228600" indent="-228600">
              <a:buFont typeface="+mj-lt"/>
              <a:buAutoNum type="arabicPeriod"/>
            </a:pPr>
            <a:r>
              <a:rPr lang="en-IN" sz="800" i="1" dirty="0">
                <a:solidFill>
                  <a:srgbClr val="FF0000"/>
                </a:solidFill>
              </a:rPr>
              <a:t>https://www.space.com/2024-finally-understand-dark-energy</a:t>
            </a:r>
          </a:p>
          <a:p>
            <a:endParaRPr lang="en-IN" sz="800" i="1" dirty="0"/>
          </a:p>
          <a:p>
            <a:pPr marL="228600" indent="-228600">
              <a:buFont typeface="+mj-lt"/>
              <a:buAutoNum type="arabicPeriod"/>
            </a:pPr>
            <a:endParaRPr lang="en-IN" sz="800" i="1" dirty="0"/>
          </a:p>
          <a:p>
            <a:r>
              <a:rPr lang="en-IN" sz="800" i="1" dirty="0">
                <a:solidFill>
                  <a:srgbClr val="FF0000"/>
                </a:solidFill>
              </a:rPr>
              <a:t> </a:t>
            </a:r>
            <a:endParaRPr lang="en-IN" sz="800" dirty="0"/>
          </a:p>
        </p:txBody>
      </p:sp>
      <p:pic>
        <p:nvPicPr>
          <p:cNvPr id="17" name="Picture 16">
            <a:extLst>
              <a:ext uri="{FF2B5EF4-FFF2-40B4-BE49-F238E27FC236}">
                <a16:creationId xmlns:a16="http://schemas.microsoft.com/office/drawing/2014/main" id="{DBD8CCF3-507F-BD08-84AD-5FFCA38C51D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561575" y="12746470"/>
            <a:ext cx="514716" cy="514716"/>
          </a:xfrm>
          <a:prstGeom prst="rect">
            <a:avLst/>
          </a:prstGeom>
        </p:spPr>
      </p:pic>
      <p:sp>
        <p:nvSpPr>
          <p:cNvPr id="18" name="TextBox 17">
            <a:extLst>
              <a:ext uri="{FF2B5EF4-FFF2-40B4-BE49-F238E27FC236}">
                <a16:creationId xmlns:a16="http://schemas.microsoft.com/office/drawing/2014/main" id="{4DFD0D61-3009-F4ED-6639-351A639AF6F3}"/>
              </a:ext>
            </a:extLst>
          </p:cNvPr>
          <p:cNvSpPr txBox="1"/>
          <p:nvPr/>
        </p:nvSpPr>
        <p:spPr>
          <a:xfrm>
            <a:off x="4282526" y="13244306"/>
            <a:ext cx="1118586" cy="338554"/>
          </a:xfrm>
          <a:prstGeom prst="rect">
            <a:avLst/>
          </a:prstGeom>
          <a:noFill/>
        </p:spPr>
        <p:txBody>
          <a:bodyPr wrap="square" rtlCol="0">
            <a:spAutoFit/>
          </a:bodyPr>
          <a:lstStyle/>
          <a:p>
            <a:r>
              <a:rPr lang="pt-BR" sz="800" b="1" dirty="0"/>
              <a:t>Barua &amp; Desai (2025)</a:t>
            </a:r>
            <a:br>
              <a:rPr lang="pt-BR" sz="800" dirty="0"/>
            </a:br>
            <a:r>
              <a:rPr lang="pt-BR" sz="800" i="1" dirty="0"/>
              <a:t>arXiv:2506.12709</a:t>
            </a:r>
            <a:endParaRPr lang="en-IN" sz="800" dirty="0"/>
          </a:p>
        </p:txBody>
      </p:sp>
      <p:sp>
        <p:nvSpPr>
          <p:cNvPr id="33" name="Rectangle 1">
            <a:extLst>
              <a:ext uri="{FF2B5EF4-FFF2-40B4-BE49-F238E27FC236}">
                <a16:creationId xmlns:a16="http://schemas.microsoft.com/office/drawing/2014/main" id="{9B5F5D8D-0DEC-E1A0-4D1F-CF10C95D1653}"/>
              </a:ext>
            </a:extLst>
          </p:cNvPr>
          <p:cNvSpPr>
            <a:spLocks noChangeArrowheads="1"/>
          </p:cNvSpPr>
          <p:nvPr/>
        </p:nvSpPr>
        <p:spPr bwMode="auto">
          <a:xfrm>
            <a:off x="5335364" y="10401238"/>
            <a:ext cx="364996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defTabSz="914400" eaLnBrk="0" fontAlgn="base" hangingPunct="0">
              <a:spcBef>
                <a:spcPct val="0"/>
              </a:spcBef>
              <a:spcAft>
                <a:spcPct val="0"/>
              </a:spcAft>
              <a:buFont typeface="Wingdings" panose="05000000000000000000" pitchFamily="2" charset="2"/>
              <a:buChar char="§"/>
            </a:pP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estimated values of H</a:t>
            </a:r>
            <a:r>
              <a:rPr kumimoji="0" lang="en-US" altLang="en-US"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 </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lang="en-US" sz="1000" dirty="0" err="1">
                <a:latin typeface="Times New Roman" panose="02020603050405020304" pitchFamily="18" charset="0"/>
                <a:cs typeface="Times New Roman" panose="02020603050405020304" pitchFamily="18" charset="0"/>
              </a:rPr>
              <a:t>Ω</a:t>
            </a:r>
            <a:r>
              <a:rPr lang="en-US" sz="800" dirty="0" err="1">
                <a:latin typeface="Times New Roman" panose="02020603050405020304" pitchFamily="18" charset="0"/>
                <a:cs typeface="Times New Roman" panose="02020603050405020304" pitchFamily="18" charset="0"/>
              </a:rPr>
              <a:t>m</a:t>
            </a:r>
            <a:r>
              <a:rPr lang="en-US" sz="800" dirty="0">
                <a:latin typeface="Times New Roman" panose="02020603050405020304" pitchFamily="18" charset="0"/>
                <a:cs typeface="Times New Roman" panose="02020603050405020304" pitchFamily="18" charset="0"/>
              </a:rPr>
              <a:t> </a:t>
            </a:r>
            <a:r>
              <a:rPr lang="en-US" sz="1000" dirty="0">
                <a:latin typeface="Times New Roman" panose="02020603050405020304" pitchFamily="18" charset="0"/>
                <a:cs typeface="Times New Roman" panose="02020603050405020304" pitchFamily="18" charset="0"/>
              </a:rPr>
              <a:t>are</a:t>
            </a:r>
            <a:r>
              <a:rPr lang="en-US" sz="800" dirty="0">
                <a:latin typeface="Times New Roman" panose="02020603050405020304" pitchFamily="18" charset="0"/>
                <a:cs typeface="Times New Roman" panose="02020603050405020304" pitchFamily="18" charset="0"/>
              </a:rPr>
              <a:t> </a:t>
            </a:r>
            <a:r>
              <a:rPr lang="en-US" sz="1000" dirty="0">
                <a:latin typeface="Times New Roman" panose="02020603050405020304" pitchFamily="18" charset="0"/>
                <a:cs typeface="Times New Roman" panose="02020603050405020304" pitchFamily="18" charset="0"/>
              </a:rPr>
              <a:t>closely consistent with    the referred paper </a:t>
            </a:r>
            <a:r>
              <a:rPr lang="en-US" sz="800" dirty="0">
                <a:solidFill>
                  <a:srgbClr val="FF0000"/>
                </a:solidFill>
                <a:latin typeface="Times New Roman" panose="02020603050405020304" pitchFamily="18" charset="0"/>
                <a:cs typeface="Times New Roman" panose="02020603050405020304" pitchFamily="18" charset="0"/>
              </a:rPr>
              <a:t>[1].</a:t>
            </a:r>
            <a:endParaRPr kumimoji="0" lang="en-US" altLang="en-US" sz="1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combination of </a:t>
            </a: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SNe </a:t>
            </a:r>
            <a:r>
              <a:rPr kumimoji="0" lang="en-US" altLang="en-US" sz="1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a:t>
            </a: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BAO, CC, and QSO</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yields </a:t>
            </a: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tight, CMB-independent constraints</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demonstrating the power of late-time cosmological probes.</a:t>
            </a:r>
          </a:p>
        </p:txBody>
      </p:sp>
      <p:sp>
        <p:nvSpPr>
          <p:cNvPr id="37" name="TextBox 36">
            <a:extLst>
              <a:ext uri="{FF2B5EF4-FFF2-40B4-BE49-F238E27FC236}">
                <a16:creationId xmlns:a16="http://schemas.microsoft.com/office/drawing/2014/main" id="{790DE4A8-D14D-68B8-6436-67A7C03EF859}"/>
              </a:ext>
            </a:extLst>
          </p:cNvPr>
          <p:cNvSpPr txBox="1"/>
          <p:nvPr/>
        </p:nvSpPr>
        <p:spPr>
          <a:xfrm>
            <a:off x="5335364" y="11260496"/>
            <a:ext cx="3649963" cy="861774"/>
          </a:xfrm>
          <a:prstGeom prst="rect">
            <a:avLst/>
          </a:prstGeom>
          <a:noFill/>
        </p:spPr>
        <p:txBody>
          <a:bodyPr wrap="square" rtlCol="0">
            <a:spAutoFit/>
          </a:bodyPr>
          <a:lstStyle/>
          <a:p>
            <a:pPr algn="just"/>
            <a:r>
              <a:rPr lang="en-IN" sz="1000" dirty="0">
                <a:latin typeface="Times New Roman" panose="02020603050405020304" pitchFamily="18" charset="0"/>
                <a:cs typeface="Times New Roman" panose="02020603050405020304" pitchFamily="18" charset="0"/>
              </a:rPr>
              <a:t>Our results from Pantheon+, DESI BAO, QSO, and CC datasets constrain </a:t>
            </a:r>
            <a:r>
              <a:rPr lang="el-GR" sz="1000" dirty="0">
                <a:latin typeface="Times New Roman" panose="02020603050405020304" pitchFamily="18" charset="0"/>
                <a:cs typeface="Times New Roman" panose="02020603050405020304" pitchFamily="18" charset="0"/>
              </a:rPr>
              <a:t>Ω</a:t>
            </a:r>
            <a:r>
              <a:rPr lang="en-IN" sz="800" dirty="0">
                <a:latin typeface="Times New Roman" panose="02020603050405020304" pitchFamily="18" charset="0"/>
                <a:cs typeface="Times New Roman" panose="02020603050405020304" pitchFamily="18" charset="0"/>
              </a:rPr>
              <a:t>m​ </a:t>
            </a:r>
            <a:r>
              <a:rPr lang="en-IN" sz="1000" dirty="0">
                <a:latin typeface="Times New Roman" panose="02020603050405020304" pitchFamily="18" charset="0"/>
                <a:cs typeface="Times New Roman" panose="02020603050405020304" pitchFamily="18" charset="0"/>
              </a:rPr>
              <a:t>and H</a:t>
            </a:r>
            <a:r>
              <a:rPr lang="en-IN" sz="700" dirty="0">
                <a:latin typeface="Times New Roman" panose="02020603050405020304" pitchFamily="18" charset="0"/>
                <a:cs typeface="Times New Roman" panose="02020603050405020304" pitchFamily="18" charset="0"/>
              </a:rPr>
              <a:t>0</a:t>
            </a:r>
            <a:r>
              <a:rPr lang="en-IN" sz="1000" dirty="0">
                <a:latin typeface="Times New Roman" panose="02020603050405020304" pitchFamily="18" charset="0"/>
                <a:cs typeface="Times New Roman" panose="02020603050405020304" pitchFamily="18" charset="0"/>
              </a:rPr>
              <a:t>​ in support of the </a:t>
            </a:r>
            <a:r>
              <a:rPr lang="el-GR" sz="1000" dirty="0">
                <a:latin typeface="Times New Roman" panose="02020603050405020304" pitchFamily="18" charset="0"/>
                <a:cs typeface="Times New Roman" panose="02020603050405020304" pitchFamily="18" charset="0"/>
              </a:rPr>
              <a:t>Λ</a:t>
            </a:r>
            <a:r>
              <a:rPr lang="en-IN" sz="1000" dirty="0">
                <a:latin typeface="Times New Roman" panose="02020603050405020304" pitchFamily="18" charset="0"/>
                <a:cs typeface="Times New Roman" panose="02020603050405020304" pitchFamily="18" charset="0"/>
              </a:rPr>
              <a:t>CDM model. The inferred </a:t>
            </a:r>
            <a:r>
              <a:rPr lang="el-GR" sz="1000" b="1" dirty="0">
                <a:latin typeface="Times New Roman" panose="02020603050405020304" pitchFamily="18" charset="0"/>
                <a:cs typeface="Times New Roman" panose="02020603050405020304" pitchFamily="18" charset="0"/>
              </a:rPr>
              <a:t>Ω</a:t>
            </a:r>
            <a:r>
              <a:rPr lang="el-GR" sz="700" b="1" dirty="0">
                <a:latin typeface="Times New Roman" panose="02020603050405020304" pitchFamily="18" charset="0"/>
                <a:cs typeface="Times New Roman" panose="02020603050405020304" pitchFamily="18" charset="0"/>
              </a:rPr>
              <a:t>Λ</a:t>
            </a:r>
            <a:r>
              <a:rPr lang="en-US" sz="700" b="1" dirty="0">
                <a:latin typeface="Times New Roman" panose="02020603050405020304" pitchFamily="18" charset="0"/>
                <a:cs typeface="Times New Roman" panose="02020603050405020304" pitchFamily="18" charset="0"/>
              </a:rPr>
              <a:t> </a:t>
            </a:r>
            <a:r>
              <a:rPr lang="el-GR" sz="1000" b="1" dirty="0">
                <a:latin typeface="Times New Roman" panose="02020603050405020304" pitchFamily="18" charset="0"/>
                <a:cs typeface="Times New Roman" panose="02020603050405020304" pitchFamily="18" charset="0"/>
              </a:rPr>
              <a:t>=</a:t>
            </a:r>
            <a:r>
              <a:rPr lang="en-US" sz="1000" b="1" dirty="0">
                <a:latin typeface="Times New Roman" panose="02020603050405020304" pitchFamily="18" charset="0"/>
                <a:cs typeface="Times New Roman" panose="02020603050405020304" pitchFamily="18" charset="0"/>
              </a:rPr>
              <a:t> </a:t>
            </a:r>
            <a:r>
              <a:rPr lang="el-GR" sz="1000" b="1" dirty="0">
                <a:latin typeface="Times New Roman" panose="02020603050405020304" pitchFamily="18" charset="0"/>
                <a:cs typeface="Times New Roman" panose="02020603050405020304" pitchFamily="18" charset="0"/>
              </a:rPr>
              <a:t>1−</a:t>
            </a:r>
            <a:r>
              <a:rPr lang="en-US" sz="1000" b="1" dirty="0">
                <a:latin typeface="Times New Roman" panose="02020603050405020304" pitchFamily="18" charset="0"/>
                <a:cs typeface="Times New Roman" panose="02020603050405020304" pitchFamily="18" charset="0"/>
              </a:rPr>
              <a:t> </a:t>
            </a:r>
            <a:r>
              <a:rPr lang="el-GR" sz="1000" b="1" dirty="0">
                <a:latin typeface="Times New Roman" panose="02020603050405020304" pitchFamily="18" charset="0"/>
                <a:cs typeface="Times New Roman" panose="02020603050405020304" pitchFamily="18" charset="0"/>
              </a:rPr>
              <a:t>Ω</a:t>
            </a:r>
            <a:r>
              <a:rPr lang="en-IN" sz="800" b="1" dirty="0">
                <a:latin typeface="Times New Roman" panose="02020603050405020304" pitchFamily="18" charset="0"/>
                <a:cs typeface="Times New Roman" panose="02020603050405020304" pitchFamily="18" charset="0"/>
              </a:rPr>
              <a:t>m</a:t>
            </a:r>
            <a:r>
              <a:rPr lang="en-IN" sz="800" i="1" dirty="0">
                <a:latin typeface="Times New Roman" panose="02020603050405020304" pitchFamily="18" charset="0"/>
                <a:cs typeface="Times New Roman" panose="02020603050405020304" pitchFamily="18" charset="0"/>
              </a:rPr>
              <a:t>​ </a:t>
            </a:r>
            <a:r>
              <a:rPr lang="en-IN" sz="1000" dirty="0">
                <a:latin typeface="Times New Roman" panose="02020603050405020304" pitchFamily="18" charset="0"/>
                <a:cs typeface="Times New Roman" panose="02020603050405020304" pitchFamily="18" charset="0"/>
              </a:rPr>
              <a:t>confirms the presence of dark energy driving late-time cosmic acceleration. Tight bounds on H(z) further validate </a:t>
            </a:r>
            <a:r>
              <a:rPr lang="el-GR" sz="1000" dirty="0">
                <a:latin typeface="Times New Roman" panose="02020603050405020304" pitchFamily="18" charset="0"/>
                <a:cs typeface="Times New Roman" panose="02020603050405020304" pitchFamily="18" charset="0"/>
              </a:rPr>
              <a:t>Λ</a:t>
            </a:r>
            <a:r>
              <a:rPr lang="en-IN" sz="1000" dirty="0">
                <a:latin typeface="Times New Roman" panose="02020603050405020304" pitchFamily="18" charset="0"/>
                <a:cs typeface="Times New Roman" panose="02020603050405020304" pitchFamily="18" charset="0"/>
              </a:rPr>
              <a:t>CDM as a consistent model with current observations.</a:t>
            </a:r>
          </a:p>
        </p:txBody>
      </p:sp>
      <p:pic>
        <p:nvPicPr>
          <p:cNvPr id="50" name="Picture 49">
            <a:extLst>
              <a:ext uri="{FF2B5EF4-FFF2-40B4-BE49-F238E27FC236}">
                <a16:creationId xmlns:a16="http://schemas.microsoft.com/office/drawing/2014/main" id="{F3967653-C9BA-FB76-F814-74551B0D47E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918984" y="8512260"/>
            <a:ext cx="2315069" cy="3111631"/>
          </a:xfrm>
          <a:prstGeom prst="rect">
            <a:avLst/>
          </a:prstGeom>
        </p:spPr>
      </p:pic>
      <p:sp>
        <p:nvSpPr>
          <p:cNvPr id="56" name="TextBox 55">
            <a:extLst>
              <a:ext uri="{FF2B5EF4-FFF2-40B4-BE49-F238E27FC236}">
                <a16:creationId xmlns:a16="http://schemas.microsoft.com/office/drawing/2014/main" id="{1E13E3BB-AE13-FD69-52A0-EFC3D524313D}"/>
              </a:ext>
            </a:extLst>
          </p:cNvPr>
          <p:cNvSpPr txBox="1"/>
          <p:nvPr/>
        </p:nvSpPr>
        <p:spPr>
          <a:xfrm>
            <a:off x="5137930" y="8528294"/>
            <a:ext cx="400607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The marginalized parameter estimates (68% credible intervals) are:</a:t>
            </a:r>
            <a:endParaRPr lang="en-IN" sz="1000" dirty="0">
              <a:latin typeface="Times New Roman" panose="02020603050405020304" pitchFamily="18" charset="0"/>
              <a:cs typeface="Times New Roman" panose="02020603050405020304" pitchFamily="18" charset="0"/>
            </a:endParaRPr>
          </a:p>
        </p:txBody>
      </p:sp>
      <p:pic>
        <p:nvPicPr>
          <p:cNvPr id="64" name="Picture 63">
            <a:extLst>
              <a:ext uri="{FF2B5EF4-FFF2-40B4-BE49-F238E27FC236}">
                <a16:creationId xmlns:a16="http://schemas.microsoft.com/office/drawing/2014/main" id="{5F5CAFF6-5664-7CB5-E77E-5D2F8EED2605}"/>
              </a:ext>
            </a:extLst>
          </p:cNvPr>
          <p:cNvPicPr>
            <a:picLocks noChangeAspect="1"/>
          </p:cNvPicPr>
          <p:nvPr/>
        </p:nvPicPr>
        <p:blipFill>
          <a:blip r:embed="rId14"/>
          <a:stretch>
            <a:fillRect/>
          </a:stretch>
        </p:blipFill>
        <p:spPr>
          <a:xfrm>
            <a:off x="5422085" y="8879374"/>
            <a:ext cx="3301812" cy="233813"/>
          </a:xfrm>
          <a:prstGeom prst="rect">
            <a:avLst/>
          </a:prstGeom>
        </p:spPr>
      </p:pic>
      <p:pic>
        <p:nvPicPr>
          <p:cNvPr id="65" name="Picture 64">
            <a:extLst>
              <a:ext uri="{FF2B5EF4-FFF2-40B4-BE49-F238E27FC236}">
                <a16:creationId xmlns:a16="http://schemas.microsoft.com/office/drawing/2014/main" id="{BE7A1EE2-A47A-3A8A-28DE-027E1A8FA514}"/>
              </a:ext>
            </a:extLst>
          </p:cNvPr>
          <p:cNvPicPr>
            <a:picLocks noChangeAspect="1"/>
          </p:cNvPicPr>
          <p:nvPr/>
        </p:nvPicPr>
        <p:blipFill>
          <a:blip r:embed="rId15"/>
          <a:stretch>
            <a:fillRect/>
          </a:stretch>
        </p:blipFill>
        <p:spPr>
          <a:xfrm>
            <a:off x="491153" y="10899212"/>
            <a:ext cx="2453185" cy="757449"/>
          </a:xfrm>
          <a:prstGeom prst="rect">
            <a:avLst/>
          </a:prstGeom>
        </p:spPr>
      </p:pic>
      <p:sp>
        <p:nvSpPr>
          <p:cNvPr id="70" name="TextBox 69">
            <a:extLst>
              <a:ext uri="{FF2B5EF4-FFF2-40B4-BE49-F238E27FC236}">
                <a16:creationId xmlns:a16="http://schemas.microsoft.com/office/drawing/2014/main" id="{B0001D0B-D4BD-8B1D-6795-6B0599534C58}"/>
              </a:ext>
            </a:extLst>
          </p:cNvPr>
          <p:cNvSpPr txBox="1"/>
          <p:nvPr/>
        </p:nvSpPr>
        <p:spPr>
          <a:xfrm>
            <a:off x="217953" y="10704785"/>
            <a:ext cx="1731842"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The priors are considered as</a:t>
            </a:r>
            <a:endParaRPr lang="en-IN" sz="1000" dirty="0">
              <a:latin typeface="Times New Roman" panose="02020603050405020304" pitchFamily="18" charset="0"/>
              <a:cs typeface="Times New Roman" panose="02020603050405020304" pitchFamily="18" charset="0"/>
            </a:endParaRPr>
          </a:p>
        </p:txBody>
      </p:sp>
      <p:sp>
        <p:nvSpPr>
          <p:cNvPr id="72" name="Rectangle 71">
            <a:extLst>
              <a:ext uri="{FF2B5EF4-FFF2-40B4-BE49-F238E27FC236}">
                <a16:creationId xmlns:a16="http://schemas.microsoft.com/office/drawing/2014/main" id="{14B3F3DE-5959-77A0-A35A-A318EB680387}"/>
              </a:ext>
            </a:extLst>
          </p:cNvPr>
          <p:cNvSpPr/>
          <p:nvPr/>
        </p:nvSpPr>
        <p:spPr>
          <a:xfrm>
            <a:off x="524933" y="10930290"/>
            <a:ext cx="2410776" cy="65629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73" name="Rectangle 1">
            <a:extLst>
              <a:ext uri="{FF2B5EF4-FFF2-40B4-BE49-F238E27FC236}">
                <a16:creationId xmlns:a16="http://schemas.microsoft.com/office/drawing/2014/main" id="{6344C7A2-BBD1-25C7-367C-F2041A89742B}"/>
              </a:ext>
            </a:extLst>
          </p:cNvPr>
          <p:cNvSpPr>
            <a:spLocks noChangeArrowheads="1"/>
          </p:cNvSpPr>
          <p:nvPr/>
        </p:nvSpPr>
        <p:spPr bwMode="auto">
          <a:xfrm>
            <a:off x="166705" y="3485580"/>
            <a:ext cx="36868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Λ (Lambda)</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cosmological constant, representing </a:t>
            </a: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dark energy</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responsible for the </a:t>
            </a: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accelerated expansion</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universe.</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CDM</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Cold Dark Matter — the dominant matter component.</a:t>
            </a:r>
          </a:p>
        </p:txBody>
      </p:sp>
      <p:pic>
        <p:nvPicPr>
          <p:cNvPr id="77" name="Picture 76">
            <a:extLst>
              <a:ext uri="{FF2B5EF4-FFF2-40B4-BE49-F238E27FC236}">
                <a16:creationId xmlns:a16="http://schemas.microsoft.com/office/drawing/2014/main" id="{D249A74E-9EFB-351F-6C1F-4D946F10BD1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441918" y="4437944"/>
            <a:ext cx="3124818" cy="3048275"/>
          </a:xfrm>
          <a:prstGeom prst="ellipse">
            <a:avLst/>
          </a:prstGeom>
          <a:ln w="190500" cap="rnd">
            <a:no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89" name="Picture 88">
            <a:extLst>
              <a:ext uri="{FF2B5EF4-FFF2-40B4-BE49-F238E27FC236}">
                <a16:creationId xmlns:a16="http://schemas.microsoft.com/office/drawing/2014/main" id="{6B306D1F-B9A2-E6B4-9BA6-95B5D786C0F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131389" y="3095269"/>
            <a:ext cx="1567644" cy="1171284"/>
          </a:xfrm>
          <a:prstGeom prst="rect">
            <a:avLst/>
          </a:prstGeom>
        </p:spPr>
      </p:pic>
      <p:sp>
        <p:nvSpPr>
          <p:cNvPr id="90" name="TextBox 89">
            <a:extLst>
              <a:ext uri="{FF2B5EF4-FFF2-40B4-BE49-F238E27FC236}">
                <a16:creationId xmlns:a16="http://schemas.microsoft.com/office/drawing/2014/main" id="{0969A2C9-045D-11A0-D1F8-7DCAE903328E}"/>
              </a:ext>
            </a:extLst>
          </p:cNvPr>
          <p:cNvSpPr txBox="1"/>
          <p:nvPr/>
        </p:nvSpPr>
        <p:spPr>
          <a:xfrm>
            <a:off x="7245753" y="4234870"/>
            <a:ext cx="1725815" cy="338554"/>
          </a:xfrm>
          <a:prstGeom prst="rect">
            <a:avLst/>
          </a:prstGeom>
          <a:noFill/>
        </p:spPr>
        <p:txBody>
          <a:bodyPr wrap="square" rtlCol="0">
            <a:spAutoFit/>
          </a:bodyPr>
          <a:lstStyle/>
          <a:p>
            <a:r>
              <a:rPr lang="en-US" sz="800" i="1" dirty="0">
                <a:latin typeface="Times New Roman" panose="02020603050405020304" pitchFamily="18" charset="0"/>
                <a:cs typeface="Times New Roman" panose="02020603050405020304" pitchFamily="18" charset="0"/>
              </a:rPr>
              <a:t>Calculations of distance using standard candles</a:t>
            </a:r>
            <a:endParaRPr lang="en-IN" sz="800" i="1" dirty="0">
              <a:latin typeface="Times New Roman" panose="02020603050405020304" pitchFamily="18" charset="0"/>
              <a:cs typeface="Times New Roman" panose="02020603050405020304" pitchFamily="18" charset="0"/>
            </a:endParaRPr>
          </a:p>
        </p:txBody>
      </p:sp>
      <p:cxnSp>
        <p:nvCxnSpPr>
          <p:cNvPr id="93" name="Straight Connector 92">
            <a:extLst>
              <a:ext uri="{FF2B5EF4-FFF2-40B4-BE49-F238E27FC236}">
                <a16:creationId xmlns:a16="http://schemas.microsoft.com/office/drawing/2014/main" id="{F426BDC0-D45C-7962-3332-03C6B9AEEB43}"/>
              </a:ext>
            </a:extLst>
          </p:cNvPr>
          <p:cNvCxnSpPr>
            <a:cxnSpLocks/>
          </p:cNvCxnSpPr>
          <p:nvPr/>
        </p:nvCxnSpPr>
        <p:spPr>
          <a:xfrm>
            <a:off x="529655" y="11055350"/>
            <a:ext cx="2414683" cy="0"/>
          </a:xfrm>
          <a:prstGeom prst="line">
            <a:avLst/>
          </a:prstGeom>
        </p:spPr>
        <p:style>
          <a:lnRef idx="1">
            <a:schemeClr val="accent1"/>
          </a:lnRef>
          <a:fillRef idx="0">
            <a:schemeClr val="accent1"/>
          </a:fillRef>
          <a:effectRef idx="0">
            <a:schemeClr val="accent1"/>
          </a:effectRef>
          <a:fontRef idx="minor">
            <a:schemeClr val="tx1"/>
          </a:fontRef>
        </p:style>
      </p:cxnSp>
      <p:sp>
        <p:nvSpPr>
          <p:cNvPr id="95" name="Rectangle 3">
            <a:extLst>
              <a:ext uri="{FF2B5EF4-FFF2-40B4-BE49-F238E27FC236}">
                <a16:creationId xmlns:a16="http://schemas.microsoft.com/office/drawing/2014/main" id="{2371DEC5-B9B5-B5E6-F79E-049623929D8C}"/>
              </a:ext>
            </a:extLst>
          </p:cNvPr>
          <p:cNvSpPr>
            <a:spLocks noChangeArrowheads="1"/>
          </p:cNvSpPr>
          <p:nvPr/>
        </p:nvSpPr>
        <p:spPr bwMode="auto">
          <a:xfrm>
            <a:off x="5522173" y="12567774"/>
            <a:ext cx="3416939" cy="1177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Statistical techniques such as MCMC and chi-square analysis are not only vital for advancing future cosmological research but also hold broad applicability across various scientific domains, parameter estimation and model evaluation in complex, data-driven investigations.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F583DC56-3BEA-298E-EE80-5F7A9CD4C99F}"/>
              </a:ext>
            </a:extLst>
          </p:cNvPr>
          <p:cNvSpPr txBox="1"/>
          <p:nvPr/>
        </p:nvSpPr>
        <p:spPr>
          <a:xfrm>
            <a:off x="3965786" y="3081159"/>
            <a:ext cx="2141003" cy="261610"/>
          </a:xfrm>
          <a:prstGeom prst="rect">
            <a:avLst/>
          </a:prstGeom>
          <a:noFill/>
        </p:spPr>
        <p:txBody>
          <a:bodyPr wrap="square" rtlCol="0">
            <a:spAutoFit/>
          </a:bodyPr>
          <a:lstStyle/>
          <a:p>
            <a:pPr marL="171450" indent="-171450">
              <a:buFont typeface="Wingdings" panose="05000000000000000000" pitchFamily="2" charset="2"/>
              <a:buChar char="Ø"/>
            </a:pPr>
            <a:r>
              <a:rPr lang="en-US" sz="1100" b="1" dirty="0">
                <a:latin typeface="Times New Roman" panose="02020603050405020304" pitchFamily="18" charset="0"/>
                <a:cs typeface="Times New Roman" panose="02020603050405020304" pitchFamily="18" charset="0"/>
              </a:rPr>
              <a:t>Type </a:t>
            </a:r>
            <a:r>
              <a:rPr lang="en-US" sz="1100" b="1" dirty="0" err="1">
                <a:latin typeface="Times New Roman" panose="02020603050405020304" pitchFamily="18" charset="0"/>
                <a:cs typeface="Times New Roman" panose="02020603050405020304" pitchFamily="18" charset="0"/>
              </a:rPr>
              <a:t>Ia</a:t>
            </a:r>
            <a:r>
              <a:rPr lang="en-US" sz="1100" b="1" dirty="0">
                <a:latin typeface="Times New Roman" panose="02020603050405020304" pitchFamily="18" charset="0"/>
                <a:cs typeface="Times New Roman" panose="02020603050405020304" pitchFamily="18" charset="0"/>
              </a:rPr>
              <a:t> Supernova</a:t>
            </a:r>
            <a:r>
              <a:rPr lang="en-IN" sz="1100" dirty="0">
                <a:latin typeface="Times New Roman" panose="02020603050405020304" pitchFamily="18" charset="0"/>
                <a:cs typeface="Times New Roman" panose="02020603050405020304" pitchFamily="18" charset="0"/>
              </a:rPr>
              <a:t> </a:t>
            </a:r>
            <a:r>
              <a:rPr lang="en-IN" sz="1100" b="1" dirty="0">
                <a:latin typeface="Times New Roman" panose="02020603050405020304" pitchFamily="18" charset="0"/>
                <a:cs typeface="Times New Roman" panose="02020603050405020304" pitchFamily="18" charset="0"/>
              </a:rPr>
              <a:t>(SNe </a:t>
            </a:r>
            <a:r>
              <a:rPr lang="en-IN" sz="1100" b="1" dirty="0" err="1">
                <a:latin typeface="Times New Roman" panose="02020603050405020304" pitchFamily="18" charset="0"/>
                <a:cs typeface="Times New Roman" panose="02020603050405020304" pitchFamily="18" charset="0"/>
              </a:rPr>
              <a:t>Ia</a:t>
            </a:r>
            <a:r>
              <a:rPr lang="en-IN" sz="1100" b="1" dirty="0">
                <a:latin typeface="Times New Roman" panose="02020603050405020304" pitchFamily="18" charset="0"/>
                <a:cs typeface="Times New Roman" panose="02020603050405020304" pitchFamily="18" charset="0"/>
              </a:rPr>
              <a:t>)</a:t>
            </a:r>
            <a:endParaRPr lang="en-US" sz="1100" b="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7DA8806-A361-2948-3624-5A8811DF029D}"/>
              </a:ext>
            </a:extLst>
          </p:cNvPr>
          <p:cNvSpPr txBox="1"/>
          <p:nvPr/>
        </p:nvSpPr>
        <p:spPr>
          <a:xfrm>
            <a:off x="75323" y="6305165"/>
            <a:ext cx="2125411" cy="253916"/>
          </a:xfrm>
          <a:prstGeom prst="rect">
            <a:avLst/>
          </a:prstGeom>
          <a:noFill/>
        </p:spPr>
        <p:txBody>
          <a:bodyPr wrap="square" rtlCol="0">
            <a:spAutoFit/>
          </a:bodyPr>
          <a:lstStyle/>
          <a:p>
            <a:r>
              <a:rPr lang="el-GR" sz="1000" b="1" dirty="0">
                <a:latin typeface="Times New Roman" panose="02020603050405020304" pitchFamily="18" charset="0"/>
                <a:cs typeface="Times New Roman" panose="02020603050405020304" pitchFamily="18" charset="0"/>
              </a:rPr>
              <a:t>1. Λ</a:t>
            </a:r>
            <a:r>
              <a:rPr lang="en-IN" sz="1000" b="1" dirty="0">
                <a:latin typeface="Times New Roman" panose="02020603050405020304" pitchFamily="18" charset="0"/>
                <a:cs typeface="Times New Roman" panose="02020603050405020304" pitchFamily="18" charset="0"/>
              </a:rPr>
              <a:t>CDM Model Assumptions:</a:t>
            </a:r>
            <a:endParaRPr lang="en-IN" sz="1000" dirty="0"/>
          </a:p>
        </p:txBody>
      </p:sp>
    </p:spTree>
    <p:extLst>
      <p:ext uri="{BB962C8B-B14F-4D97-AF65-F5344CB8AC3E}">
        <p14:creationId xmlns:p14="http://schemas.microsoft.com/office/powerpoint/2010/main" val="4256631300"/>
      </p:ext>
    </p:extLst>
  </p:cSld>
  <p:clrMapOvr>
    <a:masterClrMapping/>
  </p:clrMapOvr>
</p:sld>
</file>

<file path=ppt/theme/theme1.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1022</TotalTime>
  <Words>956</Words>
  <Application>Microsoft Office PowerPoint</Application>
  <PresentationFormat>Custom</PresentationFormat>
  <Paragraphs>71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Black</vt:lpstr>
      <vt:lpstr>Calibri</vt:lpstr>
      <vt:lpstr>Calibri Light</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Thakur</dc:creator>
  <cp:lastModifiedBy>lipsapatra2909@gmail.com</cp:lastModifiedBy>
  <cp:revision>15</cp:revision>
  <dcterms:created xsi:type="dcterms:W3CDTF">2025-07-13T08:47:09Z</dcterms:created>
  <dcterms:modified xsi:type="dcterms:W3CDTF">2025-07-16T07:18:06Z</dcterms:modified>
</cp:coreProperties>
</file>